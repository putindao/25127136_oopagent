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392349828242503"/>
          <c:y val="0.122674791533034"/>
          <c:w val="0.858174728437471"/>
          <c:h val="0.72681205901218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Trung bình số bước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Easy</c:v>
                </c:pt>
                <c:pt idx="1">
                  <c:v>Medium</c:v>
                </c:pt>
                <c:pt idx="2">
                  <c:v>Hard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2.5</c:v>
                </c:pt>
                <c:pt idx="1">
                  <c:v>3</c:v>
                </c:pt>
                <c:pt idx="2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Easy</c:v>
                </c:pt>
                <c:pt idx="1">
                  <c:v>Medium</c:v>
                </c:pt>
                <c:pt idx="2">
                  <c:v>Hard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Easy</c:v>
                </c:pt>
                <c:pt idx="1">
                  <c:v>Medium</c:v>
                </c:pt>
                <c:pt idx="2">
                  <c:v>Hard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305187068"/>
        <c:axId val="611760474"/>
      </c:barChart>
      <c:catAx>
        <c:axId val="30518706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1760474"/>
        <c:crosses val="autoZero"/>
        <c:auto val="1"/>
        <c:lblAlgn val="ctr"/>
        <c:lblOffset val="100"/>
        <c:noMultiLvlLbl val="0"/>
      </c:catAx>
      <c:valAx>
        <c:axId val="61176047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051870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Mở đầu bằng mục tiêu: xây lại các ý tưởng của framework agent hiện đại bằng C++ hướng đối tượng.</a:t>
            </a:r>
          </a:p>
          <a:p>
            <a:r>
              <a:t>Giới thiệu tên sinh viên và phạm vi bài trình bày.</a:t>
            </a:r>
          </a:p>
          <a:p/>
          <a:p>
            <a:r>
              <a:t>[Sources]</a:t>
            </a:r>
          </a:p>
          <a:p>
            <a:r>
              <a:t>- D:\OOP Project 2026 AI Agent.docx</a:t>
            </a:r>
          </a:p>
          <a:p>
            <a:r>
              <a:t>- https://github.com/putindao/25127136_OopAgent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Đối chiếu trực tiếp với đề: hệ thống phải tách LLM client, Tool registry, Skill loader, Agent loop và Harness evaluation.</a:t>
            </a:r>
          </a:p>
          <a:p>
            <a:r>
              <a:t>Thông điệp chính: giá trị nằm ở kiến trúc và khả năng kiểm thử, không chỉ ở câu trả lời của mô hình.</a:t>
            </a:r>
          </a:p>
          <a:p/>
          <a:p>
            <a:r>
              <a:t>[Sources]</a:t>
            </a:r>
          </a:p>
          <a:p>
            <a:r>
              <a:t>- D:\OOP Project 2026 AI Agent.docx</a:t>
            </a:r>
          </a:p>
          <a:p>
            <a:r>
              <a:t>- https://github.com/putindao/25127136_OopAgent/blob/master/README.md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Đi từ trái sang phải để giải thích pipeline.</a:t>
            </a:r>
          </a:p>
          <a:p>
            <a:r>
              <a:t>Nhấn mạnh invariant quan trọng nhất: AgentLoop không phụ thuộc ngược vào HarnessRunner.</a:t>
            </a:r>
          </a:p>
          <a:p/>
          <a:p>
            <a:r>
              <a:t>[Sources]</a:t>
            </a:r>
          </a:p>
          <a:p>
            <a:r>
              <a:t>- https://github.com/putindao/25127136_OopAgent/blob/master/docs/uml.md</a:t>
            </a:r>
          </a:p>
          <a:p>
            <a:r>
              <a:t>- https://github.com/putindao/25127136_OopAgent/blob/master/docs/report.md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LLMClient định nghĩa chat() và config(); OllamaClient giữ toàn bộ chi tiết HTTP.</a:t>
            </a:r>
          </a:p>
          <a:p>
            <a:r>
              <a:t>Điểm mở rộng: muốn đổi provider chỉ cần thêm subclass mới, không sửa AgentLoop.</a:t>
            </a:r>
          </a:p>
          <a:p/>
          <a:p>
            <a:r>
              <a:t>[Sources]</a:t>
            </a:r>
          </a:p>
          <a:p>
            <a:r>
              <a:t>- https://github.com/putindao/25127136_OopAgent/blob/master/src/client/llm_client.h</a:t>
            </a:r>
          </a:p>
          <a:p>
            <a:r>
              <a:t>- https://github.com/putindao/25127136_OopAgent/blob/master/src/client/ollama_client.cpp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FileTool và MemoryTool mỗi lớp mở ra hai tên tool; tổng cộng 7 tên từ 5 lớp.</a:t>
            </a:r>
          </a:p>
          <a:p>
            <a:r>
              <a:t>Registry cho phép đăng ký runtime và áp dụng allow/deny policy thay vì hardcode trong AgentLoop.</a:t>
            </a:r>
          </a:p>
          <a:p/>
          <a:p>
            <a:r>
              <a:t>[Sources]</a:t>
            </a:r>
          </a:p>
          <a:p>
            <a:r>
              <a:t>- https://github.com/putindao/25127136_OopAgent/blob/master/src/main.cpp</a:t>
            </a:r>
          </a:p>
          <a:p>
            <a:r>
              <a:t>- https://github.com/putindao/25127136_OopAgent/tree/master/src/tools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SkillLoader tách tri thức hướng dẫn khỏi mã C++ và chọn tối đa số skill được yêu cầu.</a:t>
            </a:r>
          </a:p>
          <a:p>
            <a:r>
              <a:t>Repo hiện có đúng ba skill có nội dung thực tế, đáp ứng mức tối thiểu của đề.</a:t>
            </a:r>
          </a:p>
          <a:p/>
          <a:p>
            <a:r>
              <a:t>[Sources]</a:t>
            </a:r>
          </a:p>
          <a:p>
            <a:r>
              <a:t>- https://github.com/putindao/25127136_OopAgent/tree/master/skills</a:t>
            </a:r>
          </a:p>
          <a:p>
            <a:r>
              <a:t>- https://github.com/putindao/25127136_OopAgent/blob/master/src/agent/skill_loader.cpp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Mỗi vòng: gọi LLM, parse Action, kiểm tra loop, chạy tool, đưa observation lại vào history.</a:t>
            </a:r>
          </a:p>
          <a:p>
            <a:r>
              <a:t>Action dùng std::variant&lt;ToolCall, FinalAnswer&gt;; parse_action xử lý cả JSON nằm trong prose hoặc code fence.</a:t>
            </a:r>
          </a:p>
          <a:p/>
          <a:p>
            <a:r>
              <a:t>[Sources]</a:t>
            </a:r>
          </a:p>
          <a:p>
            <a:r>
              <a:t>- https://github.com/putindao/25127136_OopAgent/blob/master/src/agent/agent_loop.cpp</a:t>
            </a:r>
          </a:p>
          <a:p>
            <a:r>
              <a:t>- https://github.com/putindao/25127136_OopAgent/blob/master/src/agent/action.cpp</a:t>
            </a:r>
          </a:p>
          <a:p>
            <a:r>
              <a:t>- https://github.com/putindao/25127136_OopAgent/blob/master/docs/uml.md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LoopDetector theo dõi chữ ký action thay vì nội dung thought.</a:t>
            </a:r>
          </a:p>
          <a:p>
            <a:r>
              <a:t>Có hai ngưỡng cấu hình: Warning để cảnh báo và Critical để dừng agent an toàn.</a:t>
            </a:r>
          </a:p>
          <a:p/>
          <a:p>
            <a:r>
              <a:t>[Sources]</a:t>
            </a:r>
          </a:p>
          <a:p>
            <a:r>
              <a:t>- https://github.com/putindao/25127136_OopAgent/blob/master/src/agent/loop_detector.cpp</a:t>
            </a:r>
          </a:p>
          <a:p>
            <a:r>
              <a:t>- https://github.com/putindao/25127136_OopAgent/blob/master/tests/test_loop_detector.cpp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HarnessRunner gắn StepHook vào AgentLoop để thu trajectory mà không làm AgentLoop phụ thuộc Harness.</a:t>
            </a:r>
          </a:p>
          <a:p>
            <a:r>
              <a:t>Evaluator là Strategy; Environment cô lập policy thực thi và thư mục làm việc.</a:t>
            </a:r>
          </a:p>
          <a:p/>
          <a:p>
            <a:r>
              <a:t>[Sources]</a:t>
            </a:r>
          </a:p>
          <a:p>
            <a:r>
              <a:t>- https://github.com/putindao/25127136_OopAgent/tree/master/src/harness</a:t>
            </a:r>
          </a:p>
          <a:p>
            <a:r>
              <a:t>- https://github.com/putindao/25127136_OopAgent/blob/master/benchmark/run_eval.cpp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Giải thích mỗi pattern bằng vấn đề nó giải quyết, không chỉ đọc tên.</a:t>
            </a:r>
          </a:p>
          <a:p>
            <a:r>
              <a:t>Điểm quan trọng khi hỏi code: mở ToolRegistry, AgentLoop::run, Evaluator hierarchy và StepHook.</a:t>
            </a:r>
          </a:p>
          <a:p/>
          <a:p>
            <a:r>
              <a:t>[Sources]</a:t>
            </a:r>
          </a:p>
          <a:p>
            <a:r>
              <a:t>- https://github.com/putindao/25127136_OopAgent/blob/master/docs/report.md</a:t>
            </a:r>
          </a:p>
          <a:p>
            <a:r>
              <a:t>- https://github.com/putindao/25127136_OopAgent/blob/master/docs/uml.md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Đề yêu cầu tối thiểu 4 / 2 / 2 / 1 kỹ thuật theo bốn chuẩn; repo ghi nhận 8 / 3 / 2 / 1.</a:t>
            </a:r>
          </a:p>
          <a:p>
            <a:r>
              <a:t>Nêu ví dụ trực tiếp: Action dùng variant, ToolResult dùng expected, tài nguyên C dùng unique_ptr với custom deleter.</a:t>
            </a:r>
          </a:p>
          <a:p/>
          <a:p>
            <a:r>
              <a:t>[Sources]</a:t>
            </a:r>
          </a:p>
          <a:p>
            <a:r>
              <a:t>- https://github.com/putindao/25127136_OopAgent/blob/master/docs/cpp-features.md</a:t>
            </a:r>
          </a:p>
          <a:p>
            <a:r>
              <a:t>- https://github.com/putindao/25127136_OopAgent/blob/master/CMakeLists.txt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Tập gồm 4 easy, 4 medium, 2 hard; biểu đồ dùng trung bình số bước 2.5 / 3.5 / 4.5.</a:t>
            </a:r>
          </a:p>
          <a:p>
            <a:r>
              <a:t>Không khẳng định năng lực tổng quát: 100% chỉ thuộc lần chạy mẫu và bộ 10 task này.</a:t>
            </a:r>
          </a:p>
          <a:p/>
          <a:p>
            <a:r>
              <a:t>[Sources]</a:t>
            </a:r>
          </a:p>
          <a:p>
            <a:r>
              <a:t>- https://github.com/putindao/25127136_OopAgent/blob/master/benchmark/sample_output/summary.json</a:t>
            </a:r>
          </a:p>
          <a:p>
            <a:r>
              <a:t>- https://github.com/putindao/25127136_OopAgent/blob/master/docs/benchmark-results.md</a:t>
            </a:r>
          </a:p>
          <a:p>
            <a:r>
              <a:t>- https://github.com/putindao/25127136_OopAgent/blob/master/benchmark/tasks.json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Đây là bằng chứng quá trình kỹ thuật: mỗi khó khăn gắn với một thay đổi cụ thể trong CMake hoặc mã nguồn.</a:t>
            </a:r>
          </a:p>
          <a:p>
            <a:r>
              <a:t>Nếu giảng viên hỏi sâu, mở CMakeLists, web_search_tool.cpp, functional_evaluator.cpp và loop_detector.h.</a:t>
            </a:r>
          </a:p>
          <a:p/>
          <a:p>
            <a:r>
              <a:t>[Sources]</a:t>
            </a:r>
          </a:p>
          <a:p>
            <a:r>
              <a:t>- https://github.com/putindao/25127136_OopAgent/blob/master/docs/report.md</a:t>
            </a:r>
          </a:p>
          <a:p>
            <a:r>
              <a:t>- https://github.com/putindao/25127136_OopAgent/blob/master/CMakeLists.txt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Kết thúc bằng bốn thao tác demo mà đề yêu cầu, không kết thúc bằng một slide cảm ơn chung chung.</a:t>
            </a:r>
          </a:p>
          <a:p>
            <a:r>
              <a:t>Thông điệp chốt: giá trị chính của đồ án là kiến trúc phân tầng và khả năng đo lường.</a:t>
            </a:r>
          </a:p>
          <a:p/>
          <a:p>
            <a:r>
              <a:t>[Sources]</a:t>
            </a:r>
          </a:p>
          <a:p>
            <a:r>
              <a:t>- D:\OOP Project 2026 AI Agent.docx</a:t>
            </a:r>
          </a:p>
          <a:p>
            <a:r>
              <a:t>- https://github.com/putindao/25127136_OopAgent/blob/master/docs/slides-outline.md</a:t>
            </a:r>
          </a:p>
          <a:p>
            <a:r>
              <a:t>- https://github.com/putindao/25127136_OopAgent/blob/master/README.md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8382000" y="0"/>
            <a:ext cx="3810000" cy="6858000"/>
          </a:xfrm>
          <a:prstGeom prst="rect">
            <a:avLst/>
          </a:prstGeom>
          <a:solidFill>
            <a:srgbClr val="EAF6FC"/>
          </a:solidFill>
          <a:ln w="0">
            <a:solidFill>
              <a:srgbClr val="EAF6FC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9810750" y="0"/>
            <a:ext cx="2381250" cy="6858000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33400" y="45720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ĐỒ ÁN</a:t>
            </a:r>
            <a:r>
              <a:rPr lang="en-US" sz="1050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PHƯƠNG PHÁP</a:t>
            </a:r>
            <a:r>
              <a:rPr sz="1050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LẬP TRÌNH HƯỚNG ĐỐI TƯỢNG</a:t>
            </a:r>
            <a:endParaRPr sz="1050" b="1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cover-title"/>
          <p:cNvSpPr>
            <a:spLocks noGrp="1"/>
          </p:cNvSpPr>
          <p:nvPr/>
        </p:nvSpPr>
        <p:spPr>
          <a:xfrm>
            <a:off x="533400" y="1676400"/>
            <a:ext cx="72390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6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46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 Agent Framework</a:t>
            </a:r>
            <a:endParaRPr sz="465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46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46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trên C++ &amp; Ollama</a:t>
            </a:r>
            <a:endParaRPr sz="465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533400" y="4095750"/>
            <a:ext cx="6191250" cy="953"/>
          </a:xfrm>
          <a:prstGeom prst="straightConnector1">
            <a:avLst/>
          </a:prstGeom>
          <a:ln w="19050">
            <a:solidFill>
              <a:srgbClr val="111111"/>
            </a:solidFill>
            <a:prstDash val="solid"/>
          </a:ln>
        </p:spPr>
      </p:cxnSp>
      <p:sp>
        <p:nvSpPr>
          <p:cNvPr id="6" name="Rectangle 5"/>
          <p:cNvSpPr>
            <a:spLocks noGrp="1"/>
          </p:cNvSpPr>
          <p:nvPr/>
        </p:nvSpPr>
        <p:spPr>
          <a:xfrm>
            <a:off x="533400" y="4343400"/>
            <a:ext cx="657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• Tool • Skill • Harness • Evaluator</a:t>
            </a:r>
            <a:endParaRPr sz="180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5886450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3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Đào Nhật Tân</a:t>
            </a:r>
            <a:r>
              <a:rPr sz="13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|  MSSV 25127136</a:t>
            </a:r>
            <a:endParaRPr sz="135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0572750" y="5905500"/>
            <a:ext cx="1047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21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2026</a:t>
            </a:r>
            <a:endParaRPr sz="21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Rectangle 15"/>
          <p:cNvSpPr>
            <a:spLocks noGrp="1"/>
          </p:cNvSpPr>
          <p:nvPr/>
        </p:nvSpPr>
        <p:spPr>
          <a:xfrm>
            <a:off x="533400" y="30480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OOP AI AGENT • 2026</a:t>
            </a:r>
            <a:endParaRPr sz="975" b="1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slide-2-title"/>
          <p:cNvSpPr>
            <a:spLocks noGrp="1"/>
          </p:cNvSpPr>
          <p:nvPr/>
        </p:nvSpPr>
        <p:spPr>
          <a:xfrm>
            <a:off x="53340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Bài toán không dừng ở việc gọi API</a:t>
            </a:r>
            <a:endParaRPr sz="285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90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6096000" y="1790700"/>
            <a:ext cx="953" cy="953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5" name="Rectangle 4"/>
          <p:cNvSpPr>
            <a:spLocks noGrp="1"/>
          </p:cNvSpPr>
          <p:nvPr/>
        </p:nvSpPr>
        <p:spPr>
          <a:xfrm>
            <a:off x="533400" y="188595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Cách làm đơn giản</a:t>
            </a:r>
            <a:endParaRPr sz="1800" b="1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33400" y="2628900"/>
            <a:ext cx="4953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5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Prompt → HTTP → in kết quả</a:t>
            </a:r>
            <a:endParaRPr sz="255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3638550"/>
            <a:ext cx="4953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Khó mở rộng, khó kiểm thử, không đo được trajectory và không thể thay thế từng thành phần độc lập.</a:t>
            </a:r>
            <a:endParaRPr sz="150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705600" y="188595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Mục tiêu đồ án</a:t>
            </a:r>
            <a:endParaRPr sz="180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Oval 8"/>
          <p:cNvSpPr>
            <a:spLocks noGrp="1"/>
          </p:cNvSpPr>
          <p:nvPr/>
        </p:nvSpPr>
        <p:spPr>
          <a:xfrm>
            <a:off x="6705600" y="2657475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6934200" y="2590800"/>
            <a:ext cx="4533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Phân lớp rõ ràng theo trách nhiệm</a:t>
            </a:r>
            <a:endParaRPr sz="150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Oval 10"/>
          <p:cNvSpPr>
            <a:spLocks noGrp="1"/>
          </p:cNvSpPr>
          <p:nvPr/>
        </p:nvSpPr>
        <p:spPr>
          <a:xfrm>
            <a:off x="6705600" y="3286125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6934200" y="3219450"/>
            <a:ext cx="4533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Thay thế được client, tool và evaluator</a:t>
            </a:r>
            <a:endParaRPr sz="150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Oval 12"/>
          <p:cNvSpPr>
            <a:spLocks noGrp="1"/>
          </p:cNvSpPr>
          <p:nvPr/>
        </p:nvSpPr>
        <p:spPr>
          <a:xfrm>
            <a:off x="6705600" y="3914775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6934200" y="3848100"/>
            <a:ext cx="4533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Ghi lại và đánh giá toàn bộ agent run</a:t>
            </a:r>
            <a:endParaRPr sz="150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705600" y="4876800"/>
            <a:ext cx="4572000" cy="70485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Một hệ thống OOP hoàn chỉnh — không phải một API wrapper</a:t>
            </a:r>
            <a:endParaRPr sz="16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Rectangle 26"/>
          <p:cNvSpPr>
            <a:spLocks noGrp="1"/>
          </p:cNvSpPr>
          <p:nvPr/>
        </p:nvSpPr>
        <p:spPr>
          <a:xfrm>
            <a:off x="533400" y="30480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OOP AI AGENT • 2026</a:t>
            </a:r>
            <a:endParaRPr sz="975" b="1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slide-3-title"/>
          <p:cNvSpPr>
            <a:spLocks noGrp="1"/>
          </p:cNvSpPr>
          <p:nvPr/>
        </p:nvSpPr>
        <p:spPr>
          <a:xfrm>
            <a:off x="53340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Năm tầng phối hợp, mỗi tầng có một trách nhiệm</a:t>
            </a:r>
            <a:endParaRPr sz="285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90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2266950" y="3143250"/>
            <a:ext cx="5524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31" name="Straight Arrow Connector 30"/>
          <p:cNvCxnSpPr/>
          <p:nvPr/>
        </p:nvCxnSpPr>
        <p:spPr>
          <a:xfrm>
            <a:off x="4533900" y="3143250"/>
            <a:ext cx="5524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32" name="Straight Arrow Connector 31"/>
          <p:cNvCxnSpPr/>
          <p:nvPr/>
        </p:nvCxnSpPr>
        <p:spPr>
          <a:xfrm>
            <a:off x="6800850" y="3143250"/>
            <a:ext cx="5524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33" name="Straight Arrow Connector 32"/>
          <p:cNvCxnSpPr/>
          <p:nvPr/>
        </p:nvCxnSpPr>
        <p:spPr>
          <a:xfrm>
            <a:off x="9067800" y="3143250"/>
            <a:ext cx="5524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8" name="Rectangle 7"/>
          <p:cNvSpPr>
            <a:spLocks noGrp="1"/>
          </p:cNvSpPr>
          <p:nvPr/>
        </p:nvSpPr>
        <p:spPr>
          <a:xfrm>
            <a:off x="552450" y="2419350"/>
            <a:ext cx="1714500" cy="15430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723900" y="264795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LLM CLIENT</a:t>
            </a:r>
            <a:endParaRPr sz="135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23900" y="3143250"/>
            <a:ext cx="1371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HTTP + JSON</a:t>
            </a:r>
            <a:endParaRPr sz="127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Ollama /api/chat</a:t>
            </a:r>
            <a:endParaRPr sz="127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2819400" y="2419350"/>
            <a:ext cx="1714500" cy="15430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2990850" y="264795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TOOLS</a:t>
            </a:r>
            <a:endParaRPr sz="135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2990850" y="3143250"/>
            <a:ext cx="1371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r>
              <a: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tên tool</a:t>
            </a:r>
            <a:endParaRPr sz="127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Registry + policy</a:t>
            </a:r>
            <a:endParaRPr sz="127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5086350" y="2419350"/>
            <a:ext cx="1714500" cy="15430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5257800" y="264795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SKILLS</a:t>
            </a:r>
            <a:endParaRPr sz="135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5257800" y="3143250"/>
            <a:ext cx="1371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Markdown</a:t>
            </a:r>
            <a:endParaRPr sz="127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select + inject</a:t>
            </a:r>
            <a:endParaRPr sz="127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7353300" y="2419350"/>
            <a:ext cx="1714500" cy="15430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7524750" y="264795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LOOP</a:t>
            </a:r>
            <a:endParaRPr sz="135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7524750" y="3143250"/>
            <a:ext cx="1371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ReAct</a:t>
            </a:r>
            <a:endParaRPr sz="127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loop detection</a:t>
            </a:r>
            <a:endParaRPr sz="127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9620250" y="2419350"/>
            <a:ext cx="1714500" cy="1543050"/>
          </a:xfrm>
          <a:prstGeom prst="rect">
            <a:avLst/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9791700" y="264795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HARNESS</a:t>
            </a:r>
            <a:endParaRPr sz="135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9791700" y="3143250"/>
            <a:ext cx="1371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trajectory</a:t>
            </a:r>
            <a:endParaRPr sz="127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evaluators</a:t>
            </a:r>
            <a:endParaRPr sz="127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>
            <a:off x="533400" y="4762500"/>
            <a:ext cx="11125200" cy="953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24" name="Rectangle 23"/>
          <p:cNvSpPr>
            <a:spLocks noGrp="1"/>
          </p:cNvSpPr>
          <p:nvPr/>
        </p:nvSpPr>
        <p:spPr>
          <a:xfrm>
            <a:off x="533400" y="50482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Nguyên tắc phụ thuộc</a:t>
            </a:r>
            <a:endParaRPr sz="1575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3048000" y="5048250"/>
            <a:ext cx="581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Ứng dụng → Harness → Agent → {Client, Tools}</a:t>
            </a:r>
            <a:endParaRPr sz="180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3048000" y="552450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AgentLoop không biết Harness tồn tại; Harness chỉ quan sát qua StepHook.</a:t>
            </a:r>
            <a:endParaRPr sz="142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Rectangle 18"/>
          <p:cNvSpPr>
            <a:spLocks noGrp="1"/>
          </p:cNvSpPr>
          <p:nvPr/>
        </p:nvSpPr>
        <p:spPr>
          <a:xfrm>
            <a:off x="533400" y="30480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OOP AI AGENT • 2026</a:t>
            </a:r>
            <a:endParaRPr sz="975" b="1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slide-4-title"/>
          <p:cNvSpPr>
            <a:spLocks noGrp="1"/>
          </p:cNvSpPr>
          <p:nvPr/>
        </p:nvSpPr>
        <p:spPr>
          <a:xfrm>
            <a:off x="53340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LLMClient tách agent logic khỏi Ollama</a:t>
            </a:r>
            <a:endParaRPr sz="285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90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33400" y="1962150"/>
            <a:ext cx="419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1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LLMClient</a:t>
            </a:r>
            <a:endParaRPr sz="315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33400" y="257175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interface trừu tượng</a:t>
            </a:r>
            <a:endParaRPr sz="150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3905250" y="2952750"/>
            <a:ext cx="20955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7" name="Rectangle 6"/>
          <p:cNvSpPr>
            <a:spLocks noGrp="1"/>
          </p:cNvSpPr>
          <p:nvPr/>
        </p:nvSpPr>
        <p:spPr>
          <a:xfrm>
            <a:off x="6572250" y="1952625"/>
            <a:ext cx="4514850" cy="1543050"/>
          </a:xfrm>
          <a:prstGeom prst="rect">
            <a:avLst/>
          </a:prstGeom>
          <a:solidFill>
            <a:srgbClr val="EAF6FC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6896100" y="2209800"/>
            <a:ext cx="381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OllamaClient</a:t>
            </a:r>
            <a:endParaRPr sz="225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896100" y="2781300"/>
            <a:ext cx="3810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libcurl + nlohmann/json</a:t>
            </a:r>
            <a:endParaRPr sz="157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15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POST /api/chat</a:t>
            </a:r>
            <a:endParaRPr sz="157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40957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Đa phương thức</a:t>
            </a:r>
            <a:endParaRPr sz="15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3143250" y="4095750"/>
            <a:ext cx="742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Message có images base64</a:t>
            </a:r>
            <a:endParaRPr sz="150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533400" y="4533900"/>
            <a:ext cx="10477500" cy="953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3" name="Rectangle 12"/>
          <p:cNvSpPr>
            <a:spLocks noGrp="1"/>
          </p:cNvSpPr>
          <p:nvPr/>
        </p:nvSpPr>
        <p:spPr>
          <a:xfrm>
            <a:off x="533400" y="47625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Cấu hình</a:t>
            </a:r>
            <a:endParaRPr sz="15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3143250" y="4762500"/>
            <a:ext cx="742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model • temperature • max_tokens • timeout</a:t>
            </a:r>
            <a:endParaRPr sz="150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533400" y="5200650"/>
            <a:ext cx="10477500" cy="953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6" name="Rectangle 15"/>
          <p:cNvSpPr>
            <a:spLocks noGrp="1"/>
          </p:cNvSpPr>
          <p:nvPr/>
        </p:nvSpPr>
        <p:spPr>
          <a:xfrm>
            <a:off x="533400" y="54292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Lỗi có cấu trúc</a:t>
            </a:r>
            <a:endParaRPr sz="15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3143250" y="5429250"/>
            <a:ext cx="742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timeout • connection • HTTP • malformed JSON</a:t>
            </a:r>
            <a:endParaRPr sz="150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533400" y="5867400"/>
            <a:ext cx="10477500" cy="953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Rectangle 19"/>
          <p:cNvSpPr>
            <a:spLocks noGrp="1"/>
          </p:cNvSpPr>
          <p:nvPr/>
        </p:nvSpPr>
        <p:spPr>
          <a:xfrm>
            <a:off x="533400" y="30480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OOP AI AGENT • 2026</a:t>
            </a:r>
            <a:endParaRPr sz="975" b="1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slide-5-title"/>
          <p:cNvSpPr>
            <a:spLocks noGrp="1"/>
          </p:cNvSpPr>
          <p:nvPr/>
        </p:nvSpPr>
        <p:spPr>
          <a:xfrm>
            <a:off x="53340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ToolRegistry quản lý </a:t>
            </a:r>
            <a:r>
              <a:rPr lang="en-US"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r>
              <a: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tool ở runtime</a:t>
            </a:r>
            <a:endParaRPr sz="285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endParaRPr sz="90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33400" y="1809750"/>
            <a:ext cx="2095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84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84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endParaRPr lang="en-US" sz="840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33400" y="312420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tên tool được đăng ký</a:t>
            </a:r>
            <a:endParaRPr sz="165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33400" y="35433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 lớp triển khai</a:t>
            </a:r>
            <a:endParaRPr sz="150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4343400"/>
            <a:ext cx="2381250" cy="106680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Registry / Factory</a:t>
            </a:r>
            <a:endParaRPr sz="15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allow • deny • get • list</a:t>
            </a:r>
            <a:endParaRPr sz="15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3733800" y="196215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THAO TÁC</a:t>
            </a:r>
            <a:endParaRPr sz="1125" b="1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3733800" y="2343150"/>
            <a:ext cx="2266950" cy="953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10" name="Rectangle 9"/>
          <p:cNvSpPr>
            <a:spLocks noGrp="1"/>
          </p:cNvSpPr>
          <p:nvPr/>
        </p:nvSpPr>
        <p:spPr>
          <a:xfrm>
            <a:off x="3733800" y="2609850"/>
            <a:ext cx="2266950" cy="1771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exec</a:t>
            </a:r>
            <a:endParaRPr sz="21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21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read_file</a:t>
            </a:r>
            <a:endParaRPr sz="21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21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write_file</a:t>
            </a:r>
            <a:endParaRPr sz="21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21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21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current_time</a:t>
            </a:r>
            <a:endParaRPr lang="en-US" sz="21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3733800" y="4762500"/>
            <a:ext cx="2266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Shell và filesystem</a:t>
            </a:r>
            <a:endParaRPr sz="135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6419850" y="196215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TRI THỨC</a:t>
            </a:r>
            <a:endParaRPr sz="1125" b="1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6419850" y="2343150"/>
            <a:ext cx="2266950" cy="953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14" name="Rectangle 13"/>
          <p:cNvSpPr>
            <a:spLocks noGrp="1"/>
          </p:cNvSpPr>
          <p:nvPr/>
        </p:nvSpPr>
        <p:spPr>
          <a:xfrm>
            <a:off x="6419850" y="2609850"/>
            <a:ext cx="2266950" cy="1771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web_search</a:t>
            </a:r>
            <a:endParaRPr sz="21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21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memory_save</a:t>
            </a:r>
            <a:endParaRPr sz="21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21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memory_search</a:t>
            </a:r>
            <a:endParaRPr sz="21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21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21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json_query</a:t>
            </a:r>
            <a:endParaRPr lang="en-US" sz="21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419850" y="4762500"/>
            <a:ext cx="2266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Web và SQLite</a:t>
            </a:r>
            <a:endParaRPr sz="135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9105900" y="196215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TÍNH TOÁN</a:t>
            </a:r>
            <a:endParaRPr sz="1125" b="1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9105900" y="2343150"/>
            <a:ext cx="2266950" cy="953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</a:ln>
        </p:spPr>
      </p:cxnSp>
      <p:sp>
        <p:nvSpPr>
          <p:cNvPr id="18" name="Rectangle 17"/>
          <p:cNvSpPr>
            <a:spLocks noGrp="1"/>
          </p:cNvSpPr>
          <p:nvPr/>
        </p:nvSpPr>
        <p:spPr>
          <a:xfrm>
            <a:off x="9105900" y="2609850"/>
            <a:ext cx="2266950" cy="1771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calculator</a:t>
            </a:r>
            <a:endParaRPr sz="21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21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21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text_stats</a:t>
            </a:r>
            <a:endParaRPr lang="en-US" sz="21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9105900" y="4762500"/>
            <a:ext cx="2266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Biểu thức số học</a:t>
            </a:r>
            <a:endParaRPr sz="135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Rectangle 17"/>
          <p:cNvSpPr>
            <a:spLocks noGrp="1"/>
          </p:cNvSpPr>
          <p:nvPr/>
        </p:nvSpPr>
        <p:spPr>
          <a:xfrm>
            <a:off x="533400" y="30480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OOP AI AGENT • 2026</a:t>
            </a:r>
            <a:endParaRPr sz="975" b="1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slide-6-title"/>
          <p:cNvSpPr>
            <a:spLocks noGrp="1"/>
          </p:cNvSpPr>
          <p:nvPr/>
        </p:nvSpPr>
        <p:spPr>
          <a:xfrm>
            <a:off x="53340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Skill được chọn theo nhiệm vụ rồi inject vào prompt</a:t>
            </a:r>
            <a:endParaRPr sz="285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  <a:endParaRPr sz="90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3429000" y="3048000"/>
            <a:ext cx="13335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22" name="Straight Arrow Connector 21"/>
          <p:cNvCxnSpPr/>
          <p:nvPr/>
        </p:nvCxnSpPr>
        <p:spPr>
          <a:xfrm>
            <a:off x="6762750" y="3048000"/>
            <a:ext cx="13335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6" name="Rectangle 5"/>
          <p:cNvSpPr>
            <a:spLocks noGrp="1"/>
          </p:cNvSpPr>
          <p:nvPr/>
        </p:nvSpPr>
        <p:spPr>
          <a:xfrm>
            <a:off x="666750" y="2076450"/>
            <a:ext cx="685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180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666750" y="25908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LOAD</a:t>
            </a:r>
            <a:endParaRPr sz="1875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66750" y="3219450"/>
            <a:ext cx="2476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Quét skills/*.md</a:t>
            </a:r>
            <a:endParaRPr sz="150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15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bằng std::filesystem</a:t>
            </a:r>
            <a:endParaRPr sz="150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4000500" y="2076450"/>
            <a:ext cx="685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80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4000500" y="25908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SELECT</a:t>
            </a:r>
            <a:endParaRPr sz="1875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4000500" y="3219450"/>
            <a:ext cx="2476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Keyword matching</a:t>
            </a:r>
            <a:endParaRPr sz="150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15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chọn skill phù hợp</a:t>
            </a:r>
            <a:endParaRPr sz="150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7334250" y="2076450"/>
            <a:ext cx="685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80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7334250" y="25908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INJECT</a:t>
            </a:r>
            <a:endParaRPr sz="1875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7334250" y="3219450"/>
            <a:ext cx="2476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Ghép vào system prompt</a:t>
            </a:r>
            <a:endParaRPr sz="150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15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trước mỗi agent run</a:t>
            </a:r>
            <a:endParaRPr sz="150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533400" y="4762500"/>
            <a:ext cx="11125200" cy="953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6" name="Rectangle 15"/>
          <p:cNvSpPr>
            <a:spLocks noGrp="1"/>
          </p:cNvSpPr>
          <p:nvPr/>
        </p:nvSpPr>
        <p:spPr>
          <a:xfrm>
            <a:off x="533400" y="50482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7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skill hiện có</a:t>
            </a:r>
            <a:endParaRPr sz="1575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3143250" y="5029200"/>
            <a:ext cx="790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task_planner.md  •  error_recovery.md  •  web_research.md</a:t>
            </a:r>
            <a:endParaRPr sz="180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Rectangle 22"/>
          <p:cNvSpPr>
            <a:spLocks noGrp="1"/>
          </p:cNvSpPr>
          <p:nvPr/>
        </p:nvSpPr>
        <p:spPr>
          <a:xfrm>
            <a:off x="533400" y="30480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OOP AI AGENT • 2026</a:t>
            </a:r>
            <a:endParaRPr sz="975" b="1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slide-7-title"/>
          <p:cNvSpPr>
            <a:spLocks noGrp="1"/>
          </p:cNvSpPr>
          <p:nvPr/>
        </p:nvSpPr>
        <p:spPr>
          <a:xfrm>
            <a:off x="53340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AgentLoop điều phối vòng lặp ReAct</a:t>
            </a:r>
            <a:endParaRPr sz="285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07</a:t>
            </a:r>
            <a:endParaRPr sz="90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2647950" y="2724150"/>
            <a:ext cx="6858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27" name="Straight Arrow Connector 26"/>
          <p:cNvCxnSpPr/>
          <p:nvPr/>
        </p:nvCxnSpPr>
        <p:spPr>
          <a:xfrm>
            <a:off x="5429250" y="2724150"/>
            <a:ext cx="6858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28" name="Straight Arrow Connector 27"/>
          <p:cNvCxnSpPr/>
          <p:nvPr/>
        </p:nvCxnSpPr>
        <p:spPr>
          <a:xfrm>
            <a:off x="8210550" y="2724150"/>
            <a:ext cx="6858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7" name="Rectangle 6"/>
          <p:cNvSpPr>
            <a:spLocks noGrp="1"/>
          </p:cNvSpPr>
          <p:nvPr/>
        </p:nvSpPr>
        <p:spPr>
          <a:xfrm>
            <a:off x="552450" y="2152650"/>
            <a:ext cx="2095500" cy="11620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723900" y="2362200"/>
            <a:ext cx="175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5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THINK</a:t>
            </a:r>
            <a:endParaRPr sz="15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23900" y="2800350"/>
            <a:ext cx="175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Ollama trả JSON</a:t>
            </a:r>
            <a:endParaRPr sz="127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3333750" y="2152650"/>
            <a:ext cx="2095500" cy="1162050"/>
          </a:xfrm>
          <a:prstGeom prst="rect">
            <a:avLst/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3505200" y="2362200"/>
            <a:ext cx="175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5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PARSE</a:t>
            </a:r>
            <a:endParaRPr sz="150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3505200" y="2800350"/>
            <a:ext cx="175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Action variant</a:t>
            </a:r>
            <a:endParaRPr sz="127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6115050" y="2152650"/>
            <a:ext cx="2095500" cy="11620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6286500" y="2362200"/>
            <a:ext cx="175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5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ACT</a:t>
            </a:r>
            <a:endParaRPr sz="15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286500" y="2800350"/>
            <a:ext cx="175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Registry thực thi tool</a:t>
            </a:r>
            <a:endParaRPr sz="127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8896350" y="2152650"/>
            <a:ext cx="2095500" cy="11620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9067800" y="2362200"/>
            <a:ext cx="175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5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OBSERVE</a:t>
            </a:r>
            <a:endParaRPr sz="15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9067800" y="2800350"/>
            <a:ext cx="175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Kết quả vào history</a:t>
            </a:r>
            <a:endParaRPr sz="127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533400" y="39624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Giao thức tool call do chương trình tự parse</a:t>
            </a:r>
            <a:endParaRPr sz="1725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533400" y="4438650"/>
            <a:ext cx="11125200" cy="9715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781050" y="4724400"/>
            <a:ext cx="1057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 "thought": "...",  "action": "calculator",  "action_input": "15*17" }</a:t>
            </a:r>
            <a:endParaRPr sz="172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533400" y="5753100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Dừng khi có FinalAnswer, lỗi nghiêm trọng hoặc đạt max_steps.</a:t>
            </a:r>
            <a:endParaRPr sz="142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Rectangle 16"/>
          <p:cNvSpPr>
            <a:spLocks noGrp="1"/>
          </p:cNvSpPr>
          <p:nvPr/>
        </p:nvSpPr>
        <p:spPr>
          <a:xfrm>
            <a:off x="533400" y="30480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OOP AI AGENT • 2026</a:t>
            </a:r>
            <a:endParaRPr sz="975" b="1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slide-8-title"/>
          <p:cNvSpPr>
            <a:spLocks noGrp="1"/>
          </p:cNvSpPr>
          <p:nvPr/>
        </p:nvSpPr>
        <p:spPr>
          <a:xfrm>
            <a:off x="53340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LoopDetector ngăn agent lặp vô hạn</a:t>
            </a:r>
            <a:endParaRPr sz="285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08</a:t>
            </a:r>
            <a:endParaRPr sz="90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3143250" y="2857500"/>
            <a:ext cx="2952750" cy="121920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cxnSp>
        <p:nvCxnSpPr>
          <p:cNvPr id="21" name="Straight Arrow Connector 20"/>
          <p:cNvCxnSpPr/>
          <p:nvPr/>
        </p:nvCxnSpPr>
        <p:spPr>
          <a:xfrm>
            <a:off x="6096000" y="2857500"/>
            <a:ext cx="2952750" cy="121920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6" name="Rectangle 5"/>
          <p:cNvSpPr>
            <a:spLocks noGrp="1"/>
          </p:cNvSpPr>
          <p:nvPr/>
        </p:nvSpPr>
        <p:spPr>
          <a:xfrm>
            <a:off x="4667250" y="2019300"/>
            <a:ext cx="2857500" cy="112395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Action signature</a:t>
            </a:r>
            <a:endParaRPr sz="18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tool | arguments</a:t>
            </a:r>
            <a:endParaRPr sz="18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933450" y="3943350"/>
            <a:ext cx="4095750" cy="13716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200150" y="4210050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B42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B42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GENERIC REPEAT</a:t>
            </a:r>
            <a:endParaRPr sz="1650" b="1">
              <a:solidFill>
                <a:srgbClr val="B42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200150" y="4705350"/>
            <a:ext cx="3543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→ A → A</a:t>
            </a:r>
            <a:endParaRPr sz="21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162800" y="3943350"/>
            <a:ext cx="4095750" cy="13716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7429500" y="4210050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B66A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B66A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PING–PONG</a:t>
            </a:r>
            <a:endParaRPr sz="1650" b="1">
              <a:solidFill>
                <a:srgbClr val="B66A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7429500" y="4705350"/>
            <a:ext cx="3543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→ B → A → B</a:t>
            </a:r>
            <a:endParaRPr sz="21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3333750" y="58102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B66A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B66A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Warning</a:t>
            </a:r>
            <a:endParaRPr sz="1350" b="1">
              <a:solidFill>
                <a:srgbClr val="B66A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4429125" y="5943600"/>
            <a:ext cx="1619250" cy="953"/>
          </a:xfrm>
          <a:prstGeom prst="straightConnector1">
            <a:avLst/>
          </a:prstGeom>
          <a:ln w="47625">
            <a:solidFill>
              <a:srgbClr val="B66A00"/>
            </a:solidFill>
            <a:prstDash val="solid"/>
          </a:ln>
        </p:spPr>
      </p:cxnSp>
      <p:cxnSp>
        <p:nvCxnSpPr>
          <p:cNvPr id="31" name="Straight Arrow Connector 30"/>
          <p:cNvCxnSpPr/>
          <p:nvPr/>
        </p:nvCxnSpPr>
        <p:spPr>
          <a:xfrm>
            <a:off x="6048375" y="5943600"/>
            <a:ext cx="1619250" cy="953"/>
          </a:xfrm>
          <a:prstGeom prst="straightConnector1">
            <a:avLst/>
          </a:prstGeom>
          <a:ln w="47625">
            <a:solidFill>
              <a:srgbClr val="B42318"/>
            </a:solidFill>
            <a:prstDash val="solid"/>
          </a:ln>
        </p:spPr>
      </p:cxnSp>
      <p:sp>
        <p:nvSpPr>
          <p:cNvPr id="16" name="Rectangle 15"/>
          <p:cNvSpPr>
            <a:spLocks noGrp="1"/>
          </p:cNvSpPr>
          <p:nvPr/>
        </p:nvSpPr>
        <p:spPr>
          <a:xfrm>
            <a:off x="7810500" y="58102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B4231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B4231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Critical → log và dừng</a:t>
            </a:r>
            <a:endParaRPr sz="1350" b="1">
              <a:solidFill>
                <a:srgbClr val="B4231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Rectangle 20"/>
          <p:cNvSpPr>
            <a:spLocks noGrp="1"/>
          </p:cNvSpPr>
          <p:nvPr/>
        </p:nvSpPr>
        <p:spPr>
          <a:xfrm>
            <a:off x="533400" y="30480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OOP AI AGENT • 2026</a:t>
            </a:r>
            <a:endParaRPr sz="975" b="1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slide-9-title"/>
          <p:cNvSpPr>
            <a:spLocks noGrp="1"/>
          </p:cNvSpPr>
          <p:nvPr/>
        </p:nvSpPr>
        <p:spPr>
          <a:xfrm>
            <a:off x="53340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Harness ghi trajectory và đánh giá</a:t>
            </a:r>
            <a:endParaRPr sz="285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09</a:t>
            </a:r>
            <a:endParaRPr sz="90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2857500" y="2924175"/>
            <a:ext cx="6667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25" name="Straight Arrow Connector 24"/>
          <p:cNvCxnSpPr/>
          <p:nvPr/>
        </p:nvCxnSpPr>
        <p:spPr>
          <a:xfrm>
            <a:off x="5715000" y="2924175"/>
            <a:ext cx="6667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6" name="Rectangle 5"/>
          <p:cNvSpPr>
            <a:spLocks noGrp="1"/>
          </p:cNvSpPr>
          <p:nvPr/>
        </p:nvSpPr>
        <p:spPr>
          <a:xfrm>
            <a:off x="666750" y="2247900"/>
            <a:ext cx="2190750" cy="14097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857250" y="24574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4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RUN</a:t>
            </a:r>
            <a:endParaRPr sz="1425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857250" y="293370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35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HarnessRunner</a:t>
            </a:r>
            <a:endParaRPr sz="135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35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chạy từng Task</a:t>
            </a:r>
            <a:endParaRPr sz="135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3524250" y="2247900"/>
            <a:ext cx="2190750" cy="1409700"/>
          </a:xfrm>
          <a:prstGeom prst="rect">
            <a:avLst/>
          </a:prstGeom>
          <a:solidFill>
            <a:srgbClr val="EAF6FC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3714750" y="24574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4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RECORD</a:t>
            </a:r>
            <a:endParaRPr sz="1425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3714750" y="293370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35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StepHook ghi</a:t>
            </a:r>
            <a:endParaRPr sz="135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35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Trajectory JSON</a:t>
            </a:r>
            <a:endParaRPr sz="135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6381750" y="2247900"/>
            <a:ext cx="2190750" cy="14097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6572250" y="24574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4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EVALUATE</a:t>
            </a:r>
            <a:endParaRPr sz="1425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6572250" y="293370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35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Keyword hoặc</a:t>
            </a:r>
            <a:endParaRPr sz="135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defRPr sz="135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Functional</a:t>
            </a:r>
            <a:endParaRPr sz="135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9620250" y="20955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OUTPUT</a:t>
            </a:r>
            <a:endParaRPr sz="1200" b="1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9620250" y="2571750"/>
            <a:ext cx="200025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trajectory_*.json</a:t>
            </a:r>
            <a:endParaRPr sz="165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16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summary.json</a:t>
            </a:r>
            <a:endParaRPr sz="165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16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success rate</a:t>
            </a:r>
            <a:endParaRPr sz="165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533400" y="4476750"/>
            <a:ext cx="11125200" cy="953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8" name="Rectangle 17"/>
          <p:cNvSpPr>
            <a:spLocks noGrp="1"/>
          </p:cNvSpPr>
          <p:nvPr/>
        </p:nvSpPr>
        <p:spPr>
          <a:xfrm>
            <a:off x="533400" y="48196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Evaluator chỉ nhìn Task + Trajectory</a:t>
            </a:r>
            <a:endParaRPr sz="1875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5429250" y="4876800"/>
            <a:ext cx="561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Không phụ thuộc AgentLoop đã chạy bằng cách nào</a:t>
            </a:r>
            <a:endParaRPr sz="150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533400" y="5524500"/>
            <a:ext cx="571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NativeEnvironment ↔ SandboxEnvironment</a:t>
            </a:r>
            <a:endParaRPr sz="150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Rectangle 17"/>
          <p:cNvSpPr>
            <a:spLocks noGrp="1"/>
          </p:cNvSpPr>
          <p:nvPr/>
        </p:nvSpPr>
        <p:spPr>
          <a:xfrm>
            <a:off x="533400" y="30480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OOP AI AGENT • 2026</a:t>
            </a:r>
            <a:endParaRPr sz="975" b="1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slide-10-title"/>
          <p:cNvSpPr>
            <a:spLocks noGrp="1"/>
          </p:cNvSpPr>
          <p:nvPr/>
        </p:nvSpPr>
        <p:spPr>
          <a:xfrm>
            <a:off x="53340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Bốn design pattern cho bốn điểm biến thiên</a:t>
            </a:r>
            <a:endParaRPr sz="285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endParaRPr sz="90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6096000" y="1885950"/>
            <a:ext cx="953" cy="953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cxnSp>
        <p:nvCxnSpPr>
          <p:cNvPr id="22" name="Straight Arrow Connector 21"/>
          <p:cNvCxnSpPr/>
          <p:nvPr/>
        </p:nvCxnSpPr>
        <p:spPr>
          <a:xfrm>
            <a:off x="533400" y="4000500"/>
            <a:ext cx="11125200" cy="953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6" name="Rectangle 5"/>
          <p:cNvSpPr>
            <a:spLocks noGrp="1"/>
          </p:cNvSpPr>
          <p:nvPr/>
        </p:nvSpPr>
        <p:spPr>
          <a:xfrm>
            <a:off x="533400" y="18669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REGISTRY / FACTORY</a:t>
            </a:r>
            <a:endParaRPr sz="120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230505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ToolRegistry</a:t>
            </a:r>
            <a:endParaRPr sz="2025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33400" y="2838450"/>
            <a:ext cx="476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Thêm tool runtime và tạo instance theo tên</a:t>
            </a:r>
            <a:endParaRPr sz="142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515100" y="18669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TEMPLATE METHOD</a:t>
            </a:r>
            <a:endParaRPr sz="120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6515100" y="230505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AgentLoop::run()</a:t>
            </a:r>
            <a:endParaRPr sz="2025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6515100" y="2838450"/>
            <a:ext cx="476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Giữ skeleton, cho phép override think / act / observe</a:t>
            </a:r>
            <a:endParaRPr sz="142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533400" y="42672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STRATEGY</a:t>
            </a:r>
            <a:endParaRPr sz="120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533400" y="470535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Evaluator</a:t>
            </a:r>
            <a:endParaRPr sz="2025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533400" y="5238750"/>
            <a:ext cx="476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Đổi Keyword ↔ Functional mà không đổi Harness</a:t>
            </a:r>
            <a:endParaRPr sz="142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515100" y="42672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OBSERVER / HOOK</a:t>
            </a:r>
            <a:endParaRPr sz="120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6515100" y="470535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StepHook</a:t>
            </a:r>
            <a:endParaRPr sz="2025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6515100" y="5238750"/>
            <a:ext cx="476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Harness ghi Step mà AgentLoop không biết Harness</a:t>
            </a:r>
            <a:endParaRPr sz="142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Rectangle 23"/>
          <p:cNvSpPr>
            <a:spLocks noGrp="1"/>
          </p:cNvSpPr>
          <p:nvPr/>
        </p:nvSpPr>
        <p:spPr>
          <a:xfrm>
            <a:off x="533400" y="30480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OOP AI AGENT • 2026</a:t>
            </a:r>
            <a:endParaRPr sz="975" b="1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slide-11-title"/>
          <p:cNvSpPr>
            <a:spLocks noGrp="1"/>
          </p:cNvSpPr>
          <p:nvPr/>
        </p:nvSpPr>
        <p:spPr>
          <a:xfrm>
            <a:off x="53340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Kỹ thuật C++17–26 xuất hiện trong code</a:t>
            </a:r>
            <a:endParaRPr sz="285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</a:t>
            </a:r>
            <a:endParaRPr sz="90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33400" y="196215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C++17</a:t>
            </a:r>
            <a:endParaRPr sz="1725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33400" y="2609850"/>
            <a:ext cx="2286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6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46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</a:t>
            </a:r>
            <a:endParaRPr sz="465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33400" y="33337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kỹ thuật</a:t>
            </a:r>
            <a:endParaRPr sz="127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4000500"/>
            <a:ext cx="2286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unique_ptr + RAII</a:t>
            </a:r>
            <a:endParaRPr sz="150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15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variant / visit</a:t>
            </a:r>
            <a:endParaRPr sz="150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15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filesystem</a:t>
            </a:r>
            <a:endParaRPr sz="150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15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structured bindings</a:t>
            </a:r>
            <a:endParaRPr sz="150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3086100" y="1962150"/>
            <a:ext cx="953" cy="953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9" name="Rectangle 8"/>
          <p:cNvSpPr>
            <a:spLocks noGrp="1"/>
          </p:cNvSpPr>
          <p:nvPr/>
        </p:nvSpPr>
        <p:spPr>
          <a:xfrm>
            <a:off x="3314700" y="196215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C++20</a:t>
            </a:r>
            <a:endParaRPr sz="1725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3314700" y="2609850"/>
            <a:ext cx="2286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6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46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465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3314700" y="33337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kỹ thuật</a:t>
            </a:r>
            <a:endParaRPr sz="127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3314700" y="4000500"/>
            <a:ext cx="2286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designated init</a:t>
            </a:r>
            <a:endParaRPr sz="150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15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contains()</a:t>
            </a:r>
            <a:endParaRPr sz="150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15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ranges / views</a:t>
            </a:r>
            <a:endParaRPr sz="150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5867400" y="1962150"/>
            <a:ext cx="953" cy="953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4" name="Rectangle 13"/>
          <p:cNvSpPr>
            <a:spLocks noGrp="1"/>
          </p:cNvSpPr>
          <p:nvPr/>
        </p:nvSpPr>
        <p:spPr>
          <a:xfrm>
            <a:off x="6096000" y="196215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C++23</a:t>
            </a:r>
            <a:endParaRPr sz="1725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096000" y="2609850"/>
            <a:ext cx="2286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6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46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465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6096000" y="33337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kỹ thuật</a:t>
            </a:r>
            <a:endParaRPr sz="127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6096000" y="4000500"/>
            <a:ext cx="2286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std::expected</a:t>
            </a:r>
            <a:endParaRPr sz="150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15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std::print / println</a:t>
            </a:r>
            <a:endParaRPr sz="150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8648700" y="1962150"/>
            <a:ext cx="953" cy="953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9" name="Rectangle 18"/>
          <p:cNvSpPr>
            <a:spLocks noGrp="1"/>
          </p:cNvSpPr>
          <p:nvPr/>
        </p:nvSpPr>
        <p:spPr>
          <a:xfrm>
            <a:off x="8877300" y="196215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C++26</a:t>
            </a:r>
            <a:endParaRPr sz="1725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8877300" y="2609850"/>
            <a:ext cx="2286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6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46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465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8877300" y="33337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kỹ thuật</a:t>
            </a:r>
            <a:endParaRPr sz="127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8877300" y="4000500"/>
            <a:ext cx="2286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= delete("reason")</a:t>
            </a:r>
            <a:endParaRPr sz="150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defRPr sz="15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copy safety</a:t>
            </a:r>
            <a:endParaRPr sz="1500" b="0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533400" y="5829300"/>
            <a:ext cx="11125200" cy="457200"/>
          </a:xfrm>
          <a:prstGeom prst="rect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Memory management: không raw new/delete • lỗi dự kiến được biểu diễn bằng std::expected</a:t>
            </a:r>
            <a:endParaRPr sz="13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Rectangle 15"/>
          <p:cNvSpPr>
            <a:spLocks noGrp="1"/>
          </p:cNvSpPr>
          <p:nvPr/>
        </p:nvSpPr>
        <p:spPr>
          <a:xfrm>
            <a:off x="533400" y="30480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OOP AI AGENT • 2026</a:t>
            </a:r>
            <a:endParaRPr sz="975" b="1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slide-12-title"/>
          <p:cNvSpPr>
            <a:spLocks noGrp="1"/>
          </p:cNvSpPr>
          <p:nvPr/>
        </p:nvSpPr>
        <p:spPr>
          <a:xfrm>
            <a:off x="53340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Benchmark mẫu ghi nhận 10/10 task thành công</a:t>
            </a:r>
            <a:endParaRPr sz="285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</a:t>
            </a:r>
            <a:endParaRPr sz="90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62000" y="5695950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35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Bước trung bình tăng theo độ khó</a:t>
            </a:r>
            <a:endParaRPr sz="135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7467600" y="1981200"/>
            <a:ext cx="361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9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49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10/10</a:t>
            </a:r>
            <a:endParaRPr sz="495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7467600" y="285750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success rate = 100%</a:t>
            </a:r>
            <a:endParaRPr sz="165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7467600" y="3467100"/>
            <a:ext cx="3619500" cy="953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9" name="Rectangle 8"/>
          <p:cNvSpPr>
            <a:spLocks noGrp="1"/>
          </p:cNvSpPr>
          <p:nvPr/>
        </p:nvSpPr>
        <p:spPr>
          <a:xfrm>
            <a:off x="7467600" y="3771900"/>
            <a:ext cx="1524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0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lang="en-US" sz="30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lang="en-US" sz="30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467600" y="43053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tổng số bước</a:t>
            </a:r>
            <a:endParaRPr sz="127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9448800" y="377190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30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32,394</a:t>
            </a:r>
            <a:endParaRPr lang="en-US" sz="30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9448800" y="43053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tokens xấp xỉ</a:t>
            </a:r>
            <a:endParaRPr sz="127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7467600" y="5010150"/>
            <a:ext cx="3810000" cy="8763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7696200" y="5181600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B66A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B66A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Lưu ý</a:t>
            </a:r>
            <a:endParaRPr sz="1350" b="1">
              <a:solidFill>
                <a:srgbClr val="B66A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8458200" y="5162550"/>
            <a:ext cx="257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Kết quả của một lần chạy, temperature 0.1; LLM có tính không tất định.</a:t>
            </a:r>
            <a:endParaRPr sz="120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aphicFrame>
        <p:nvGraphicFramePr>
          <p:cNvPr id="17" name="Chart 16"/>
          <p:cNvGraphicFramePr/>
          <p:nvPr/>
        </p:nvGraphicFramePr>
        <p:xfrm>
          <a:off x="335280" y="1537335"/>
          <a:ext cx="6839585" cy="39598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Rectangle 25"/>
          <p:cNvSpPr>
            <a:spLocks noGrp="1"/>
          </p:cNvSpPr>
          <p:nvPr/>
        </p:nvSpPr>
        <p:spPr>
          <a:xfrm>
            <a:off x="533400" y="30480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OOP AI AGENT • 2026</a:t>
            </a:r>
            <a:endParaRPr sz="975" b="1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slide-13-title"/>
          <p:cNvSpPr>
            <a:spLocks noGrp="1"/>
          </p:cNvSpPr>
          <p:nvPr/>
        </p:nvSpPr>
        <p:spPr>
          <a:xfrm>
            <a:off x="53340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Bốn lỗi định hình kiến trúc</a:t>
            </a:r>
            <a:endParaRPr sz="285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13</a:t>
            </a:r>
            <a:endParaRPr sz="90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1047750" y="3257550"/>
            <a:ext cx="9906000" cy="953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5" name="Oval 4"/>
          <p:cNvSpPr>
            <a:spLocks noGrp="1"/>
          </p:cNvSpPr>
          <p:nvPr/>
        </p:nvSpPr>
        <p:spPr>
          <a:xfrm>
            <a:off x="647700" y="3162300"/>
            <a:ext cx="190500" cy="190500"/>
          </a:xfrm>
          <a:prstGeom prst="ellipse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647700" y="19431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135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647700" y="23622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std::println</a:t>
            </a:r>
            <a:endParaRPr sz="1875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47700" y="371475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Link thiếu stdc++exp</a:t>
            </a:r>
            <a:endParaRPr sz="135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47700" y="451485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Bổ sung thư viện trong CMake</a:t>
            </a:r>
            <a:endParaRPr sz="1425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Oval 9"/>
          <p:cNvSpPr>
            <a:spLocks noGrp="1"/>
          </p:cNvSpPr>
          <p:nvPr/>
        </p:nvSpPr>
        <p:spPr>
          <a:xfrm>
            <a:off x="3505200" y="3162300"/>
            <a:ext cx="190500" cy="190500"/>
          </a:xfrm>
          <a:prstGeom prst="ellipse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3505200" y="19431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35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3505200" y="23622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SSL / CA</a:t>
            </a:r>
            <a:endParaRPr sz="1875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3505200" y="371475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Bundle rỗng trên MSYS2</a:t>
            </a:r>
            <a:endParaRPr sz="135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3505200" y="451485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Dò và kiểm tra CA hợp lệ</a:t>
            </a:r>
            <a:endParaRPr sz="1425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Oval 14"/>
          <p:cNvSpPr>
            <a:spLocks noGrp="1"/>
          </p:cNvSpPr>
          <p:nvPr/>
        </p:nvSpPr>
        <p:spPr>
          <a:xfrm>
            <a:off x="6362700" y="3162300"/>
            <a:ext cx="190500" cy="190500"/>
          </a:xfrm>
          <a:prstGeom prst="ellipse">
            <a:avLst/>
          </a:prstGeom>
          <a:solidFill>
            <a:srgbClr val="111111"/>
          </a:solidFill>
          <a:ln w="0">
            <a:solidFill>
              <a:srgbClr val="111111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6362700" y="19431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35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6362700" y="23622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Windows shell</a:t>
            </a:r>
            <a:endParaRPr sz="1875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6362700" y="371475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cmd /c làm hỏng quoting</a:t>
            </a:r>
            <a:endParaRPr sz="135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362700" y="451485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Chuẩn hóa đường dẫn + quote</a:t>
            </a:r>
            <a:endParaRPr sz="1425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Oval 19"/>
          <p:cNvSpPr>
            <a:spLocks noGrp="1"/>
          </p:cNvSpPr>
          <p:nvPr/>
        </p:nvSpPr>
        <p:spPr>
          <a:xfrm>
            <a:off x="9220200" y="3162300"/>
            <a:ext cx="190500" cy="19050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9220200" y="19431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135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9220200" y="23622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Default arg</a:t>
            </a:r>
            <a:endParaRPr sz="1875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9220200" y="371475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Nested aggregate lỗi compile</a:t>
            </a:r>
            <a:endParaRPr sz="135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9220200" y="451485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Tách constructor mặc định</a:t>
            </a:r>
            <a:endParaRPr sz="1425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533400" y="5810250"/>
            <a:ext cx="11125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57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Mỗi lỗi đều để lại một quyết định kiến trúc hoặc build có thể giải thích trong code.</a:t>
            </a:r>
            <a:endParaRPr sz="1575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Rectangle 22"/>
          <p:cNvSpPr>
            <a:spLocks noGrp="1"/>
          </p:cNvSpPr>
          <p:nvPr/>
        </p:nvSpPr>
        <p:spPr>
          <a:xfrm>
            <a:off x="533400" y="30480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OOP AI AGENT • 2026</a:t>
            </a:r>
            <a:endParaRPr sz="975" b="1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slide-14-title"/>
          <p:cNvSpPr>
            <a:spLocks noGrp="1"/>
          </p:cNvSpPr>
          <p:nvPr/>
        </p:nvSpPr>
        <p:spPr>
          <a:xfrm>
            <a:off x="533400" y="647700"/>
            <a:ext cx="1104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Demo: chạy, mở rộng và đo lường</a:t>
            </a:r>
            <a:endParaRPr sz="285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11334750" y="6419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</a:t>
            </a:r>
            <a:endParaRPr sz="900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533400" y="1809750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135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200150" y="18097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Chạy agent</a:t>
            </a:r>
            <a:endParaRPr sz="18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3790950" y="182880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Một task hoàn chỉnh từ command line</a:t>
            </a:r>
            <a:endParaRPr sz="142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1200150" y="2343150"/>
            <a:ext cx="9715500" cy="953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8" name="Rectangle 7"/>
          <p:cNvSpPr>
            <a:spLocks noGrp="1"/>
          </p:cNvSpPr>
          <p:nvPr/>
        </p:nvSpPr>
        <p:spPr>
          <a:xfrm>
            <a:off x="533400" y="2686050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35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200150" y="26860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Thêm tool</a:t>
            </a:r>
            <a:endParaRPr sz="18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3790950" y="270510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Tạo subclass, đăng ký runtime, rebuild</a:t>
            </a:r>
            <a:endParaRPr sz="142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1200150" y="3219450"/>
            <a:ext cx="9715500" cy="953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2" name="Rectangle 11"/>
          <p:cNvSpPr>
            <a:spLocks noGrp="1"/>
          </p:cNvSpPr>
          <p:nvPr/>
        </p:nvSpPr>
        <p:spPr>
          <a:xfrm>
            <a:off x="533400" y="3562350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35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1200150" y="35623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Chạy benchmark</a:t>
            </a:r>
            <a:endParaRPr sz="18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3790950" y="358140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Mở summary.json và một trajectory</a:t>
            </a:r>
            <a:endParaRPr sz="142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1200150" y="4095750"/>
            <a:ext cx="9715500" cy="953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6" name="Rectangle 15"/>
          <p:cNvSpPr>
            <a:spLocks noGrp="1"/>
          </p:cNvSpPr>
          <p:nvPr/>
        </p:nvSpPr>
        <p:spPr>
          <a:xfrm>
            <a:off x="533400" y="4438650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3D8D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1350" b="1">
              <a:solidFill>
                <a:srgbClr val="3D8D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1200150" y="44386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Giải thích pattern</a:t>
            </a:r>
            <a:endParaRPr sz="1800" b="1">
              <a:solidFill>
                <a:srgbClr val="11111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3790950" y="445770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0">
                <a:solidFill>
                  <a:srgbClr val="5F636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Chỉ đúng class và quan hệ trong code</a:t>
            </a:r>
            <a:endParaRPr sz="1425" b="0">
              <a:solidFill>
                <a:srgbClr val="5F636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1200150" y="4972050"/>
            <a:ext cx="9715500" cy="953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20" name="Rectangle 19"/>
          <p:cNvSpPr>
            <a:spLocks noGrp="1"/>
          </p:cNvSpPr>
          <p:nvPr/>
        </p:nvSpPr>
        <p:spPr>
          <a:xfrm>
            <a:off x="533400" y="5581650"/>
            <a:ext cx="11125200" cy="8001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781050" y="57721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D0EDF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D0EDF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Kết luận</a:t>
            </a:r>
            <a:endParaRPr sz="1500" b="1">
              <a:solidFill>
                <a:srgbClr val="D0EDF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2247900" y="5734050"/>
            <a:ext cx="895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OOP giúp agent phức tạp vẫn có thể thay thế, kiểm thử và đánh giá từng tầng.</a:t>
            </a:r>
            <a:endParaRPr sz="18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4222</Words>
  <Application>WPS Presentation</Application>
  <PresentationFormat>Converted Presentation</PresentationFormat>
  <Paragraphs>425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SimSun</vt:lpstr>
      <vt:lpstr>Wingdings</vt:lpstr>
      <vt:lpstr>Arial</vt:lpstr>
      <vt:lpstr>Microsoft YaHei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nhật tânđào</cp:lastModifiedBy>
  <cp:revision>4</cp:revision>
  <dcterms:created xsi:type="dcterms:W3CDTF">2026-08-28T12:40:00Z</dcterms:created>
  <dcterms:modified xsi:type="dcterms:W3CDTF">2026-08-29T16:59:05Z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A2410C971B2D41469C678A4A80030A73_12</vt:lpwstr>
  </property>
  <property fmtid="{D5CDD505-2E9C-101B-9397-08002B2CF9AE}" pid="3" name="KSOProductBuildVer">
    <vt:lpwstr>1033-12.1.0.28032</vt:lpwstr>
  </property>
</Properties>
</file>
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1400" b="1" i="0" u="none" strike="noStrike" kern="12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</a:p>
      </c:txPr>
    </c:title>
    <c:autoTitleDeleted val="0"/>
    <c:plotArea>
      <c:layout>
        <c:manualLayout>
          <c:layoutTarget val="inner"/>
          <c:xMode val="edge"/>
          <c:yMode val="edge"/>
          <c:x val="0.0392349828242503"/>
          <c:y val="0.122674791533034"/>
          <c:w val="0.858174728437471"/>
          <c:h val="0.72681205901218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Trung bình số bước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3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46"/>
        <c:overlap val="-28"/>
        <c:axId val="305187068"/>
        <c:axId val="611760474"/>
      </c:barChart>
      <c:catAx>
        <c:axId val="30518706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11760474"/>
        <c:crosses val="autoZero"/>
        <c:auto val="1"/>
        <c:lblAlgn val="ctr"/>
        <c:lblOffset val="100"/>
        <c:noMultiLvlLbl val="0"/>
      </c:catAx>
      <c:valAx>
        <c:axId val="61176047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3051870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8d13f1b-d487-41ec-9c15-eb7b677e64f6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bằng mục tiêu: xây lại các ý tưởng của framework agent hiện đại bằng C++ hướng đối tượng.</a:t>
            </a:r>
          </a:p>
          <a:p>
            <a:r>
              <a:t>Giới thiệu tên sinh viên và phạm vi bài trình bày.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Đối chiếu trực tiếp với đề: hệ thống phải tách LLM client, Tool registry, Skill loader, Agent loop và Harness evaluation.</a:t>
            </a:r>
          </a:p>
          <a:p>
            <a:r>
              <a:t>Thông điệp chính: giá trị nằm ở kiến trúc và khả năng kiểm thử, không chỉ ở câu trả lời của mô hình.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https://github.com/putindao/25127136_OopAgent/blob/master/README.md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 từ trái sang phải để giải thích pipeline.</a:t>
            </a:r>
          </a:p>
          <a:p>
            <a:r>
              <a:t>Nhấn mạnh invariant quan trọng nhất: AgentLoop không phụ thuộc ngược vào HarnessRunner.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https://github.com/putindao/25127136_OopAgent/blob/master/docs/uml.md</a:t>
            </a:r>
          </a:p>
          <a:p>
            <a:r>
              <a:t>- https://github.com/putindao/25127136_OopAgent/blob/master/docs/report.md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LLMClient định nghĩa chat() và config(); OllamaClient giữ toàn bộ chi tiết HTTP.</a:t>
            </a:r>
          </a:p>
          <a:p>
            <a:r>
              <a:t>Điểm mở rộng: muốn đổi provider chỉ cần thêm subclass mới, không sửa AgentLoop.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https://github.com/putindao/25127136_OopAgent/blob/master/src/client/llm_client.h</a:t>
            </a:r>
          </a:p>
          <a:p>
            <a:r>
              <a:t>- https://github.com/putindao/25127136_OopAgent/blob/master/src/client/ollama_client.cpp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FileTool và MemoryTool mỗi lớp mở ra hai tên tool; tổng cộng 7 tên từ 5 lớp.</a:t>
            </a:r>
          </a:p>
          <a:p>
            <a:r>
              <a:t>Registry cho phép đăng ký runtime và áp dụng allow/deny policy thay vì hardcode trong AgentLoop.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https://github.com/putindao/25127136_OopAgent/blob/master/src/main.cpp</a:t>
            </a:r>
          </a:p>
          <a:p>
            <a:r>
              <a:t>- https://github.com/putindao/25127136_OopAgent/tree/master/src/tools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SkillLoader tách tri thức hướng dẫn khỏi mã C++ và chọn tối đa số skill được yêu cầu.</a:t>
            </a:r>
          </a:p>
          <a:p>
            <a:r>
              <a:t>Repo hiện có đúng ba skill có nội dung thực tế, đáp ứng mức tối thiểu của đề.</a:t>
            </a:r>
          </a:p>
          <a:p/>
          <a:p>
            <a:r>
              <a:t>[Sources]</a:t>
            </a:r>
          </a:p>
          <a:p>
            <a:r>
              <a:t>- https://github.com/putindao/25127136_OopAgent/tree/master/skills</a:t>
            </a:r>
          </a:p>
          <a:p>
            <a:r>
              <a:t>- https://github.com/putindao/25127136_OopAgent/blob/master/src/agent/skill_loader.cpp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Mỗi vòng: gọi LLM, parse Action, kiểm tra loop, chạy tool, đưa observation lại vào history.</a:t>
            </a:r>
          </a:p>
          <a:p>
            <a:r>
              <a:t>Action dùng std::variant&lt;ToolCall, FinalAnswer&gt;; parse_action xử lý cả JSON nằm trong prose hoặc code fence.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https://github.com/putindao/25127136_OopAgent/blob/master/src/agent/agent_loop.cpp</a:t>
            </a:r>
          </a:p>
          <a:p>
            <a:r>
              <a:t>- https://github.com/putindao/25127136_OopAgent/blob/master/src/agent/action.cpp</a:t>
            </a:r>
          </a:p>
          <a:p>
            <a:r>
              <a:t>- https://github.com/putindao/25127136_OopAgent/blob/master/docs/uml.md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LoopDetector theo dõi chữ ký action thay vì nội dung thought.</a:t>
            </a:r>
          </a:p>
          <a:p>
            <a:r>
              <a:t>Có hai ngưỡng cấu hình: Warning để cảnh báo và Critical để dừng agent an toàn.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https://github.com/putindao/25127136_OopAgent/blob/master/src/agent/loop_detector.cpp</a:t>
            </a:r>
          </a:p>
          <a:p>
            <a:r>
              <a:t>- https://github.com/putindao/25127136_OopAgent/blob/master/tests/test_loop_detector.cpp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HarnessRunner gắn StepHook vào AgentLoop để thu trajectory mà không làm AgentLoop phụ thuộc Harness.</a:t>
            </a:r>
          </a:p>
          <a:p>
            <a:r>
              <a:t>Evaluator là Strategy; Environment cô lập policy thực thi và thư mục làm việc.</a:t>
            </a:r>
          </a:p>
          <a:p/>
          <a:p>
            <a:r>
              <a:t>[Sources]</a:t>
            </a:r>
          </a:p>
          <a:p>
            <a:r>
              <a:t>- https://github.com/putindao/25127136_OopAgent/tree/master/src/harness</a:t>
            </a:r>
          </a:p>
          <a:p>
            <a:r>
              <a:t>- https://github.com/putindao/25127136_OopAgent/blob/master/benchmark/run_eval.cpp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Giải thích mỗi pattern bằng vấn đề nó giải quyết, không chỉ đọc tên.</a:t>
            </a:r>
          </a:p>
          <a:p>
            <a:r>
              <a:t>Điểm quan trọng khi hỏi code: mở ToolRegistry, AgentLoop::run, Evaluator hierarchy và StepHook.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https://github.com/putindao/25127136_OopAgent/blob/master/docs/report.md</a:t>
            </a:r>
          </a:p>
          <a:p>
            <a:r>
              <a:t>- https://github.com/putindao/25127136_OopAgent/blob/master/docs/uml.md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Đề yêu cầu tối thiểu 4 / 2 / 2 / 1 kỹ thuật theo bốn chuẩn; repo ghi nhận 8 / 3 / 2 / 1.</a:t>
            </a:r>
          </a:p>
          <a:p>
            <a:r>
              <a:t>Nêu ví dụ trực tiếp: Action dùng variant, ToolResult dùng expected, tài nguyên C dùng unique_ptr với custom deleter.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https://github.com/putindao/25127136_OopAgent/blob/master/docs/cpp-features.md</a:t>
            </a:r>
          </a:p>
          <a:p>
            <a:r>
              <a:t>- https://github.com/putindao/25127136_OopAgent/blob/master/CMakeLists.txt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Tập gồm 4 easy, 4 medium, 2 hard; biểu đồ dùng trung bình số bước 2.5 / 3.5 / 4.5.</a:t>
            </a:r>
          </a:p>
          <a:p>
            <a:r>
              <a:t>Không khẳng định năng lực tổng quát: 100% chỉ thuộc lần chạy mẫu và bộ 10 task này.</a:t>
            </a:r>
          </a:p>
          <a:p/>
          <a:p>
            <a:r>
              <a:t>[Sources]</a:t>
            </a:r>
          </a:p>
          <a:p>
            <a:r>
              <a:t>- https://github.com/putindao/25127136_OopAgent/blob/master/benchmark/sample_output/summary.json</a:t>
            </a:r>
          </a:p>
          <a:p>
            <a:r>
              <a:t>- https://github.com/putindao/25127136_OopAgent/blob/master/docs/benchmark-results.md</a:t>
            </a:r>
          </a:p>
          <a:p>
            <a:r>
              <a:t>- https://github.com/putindao/25127136_OopAgent/blob/master/benchmark/tasks.json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Đây là bằng chứng quá trình kỹ thuật: mỗi khó khăn gắn với một thay đổi cụ thể trong CMake hoặc mã nguồn.</a:t>
            </a:r>
          </a:p>
          <a:p>
            <a:r>
              <a:t>Nếu giảng viên hỏi sâu, mở CMakeLists, web_search_tool.cpp, functional_evaluator.cpp và loop_detector.h.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https://github.com/putindao/25127136_OopAgent/blob/master/docs/report.md</a:t>
            </a:r>
          </a:p>
          <a:p>
            <a:r>
              <a:t>- https://github.com/putindao/25127136_OopAgent/blob/master/CMakeLists.txt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bằng bốn thao tác demo mà đề yêu cầu, không kết thúc bằng một slide cảm ơn chung chung.</a:t>
            </a:r>
          </a:p>
          <a:p>
            <a:r>
              <a:t>Thông điệp chốt: giá trị chính của đồ án là kiến trúc phân tầng và khả năng đo lường.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https://github.com/putindao/25127136_OopAgent/blob/master/docs/slides-outline.md</a:t>
            </a:r>
          </a:p>
          <a:p>
            <a:r>
              <a:t>- https://github.com/putindao/25127136_OopAgent/blob/master/README.md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>
            <a:spLocks noGrp="1"/>
          </p:cNvSpPr>
          <p:nvPr/>
        </p:nvSpPr>
        <p:spPr>
          <a:xfrm>
            <a:off x="8382000" y="0"/>
            <a:ext cx="3810000" cy="6858000"/>
          </a:xfrm>
          <a:prstGeom prst="rect">
            <a:avLst/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9810750" y="0"/>
            <a:ext cx="2381250" cy="685800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</p:sp>
      <p:sp>
        <p:nvSpPr>
          <p:cNvPr id="3" name="Rectangle 2"/>
          <p:cNvSpPr>
            <a:spLocks noGrp="1"/>
          </p:cNvSpPr>
          <p:nvPr/>
        </p:nvSpPr>
        <p:spPr>
          <a:xfrm>
            <a:off x="533400" y="4572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ĐỒ ÁN</a:t>
            </a:r>
            <a:r>
              <a:rPr lang="en-US"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PHƯƠNG PHÁP</a:t>
            </a:r>
            <a:r>
              <a: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LẬP TRÌNH HƯỚNG ĐỐI TƯỢNG</a:t>
            </a:r>
            <a:endParaRPr sz="105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cover-title"/>
          <p:cNvSpPr>
            <a:spLocks noGrp="1"/>
          </p:cNvSpPr>
          <p:nvPr/>
        </p:nvSpPr>
        <p:spPr>
          <a:xfrm>
            <a:off x="533400" y="1676400"/>
            <a:ext cx="7239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 Agent Framework</a:t>
            </a:r>
            <a:endParaRPr sz="4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trên C++ &amp; Ollama</a:t>
            </a:r>
            <a:endParaRPr sz="4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33400" y="4095750"/>
            <a:ext cx="6191250" cy="953"/>
          </a:xfrm>
          <a:prstGeom prst="straightConnector1">
            <a:avLst/>
          </a:prstGeom>
          <a:ln w="19050">
            <a:solidFill>
              <a:srgbClr val="111111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533400" y="4343400"/>
            <a:ext cx="657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• Tool • Skill • Harness • Evaluator</a:t>
            </a:r>
            <a:endParaRPr sz="18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5886450"/>
            <a:ext cx="619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Đào Nhật Tân</a:t>
            </a: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|  MSSV 25127136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10572750" y="5905500"/>
            <a:ext cx="1047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2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Bài toán không dừng ở việc gọi API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6096000" y="179070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5" name="Rectangle 4"/>
          <p:cNvSpPr>
            <a:spLocks noGrp="1"/>
          </p:cNvSpPr>
          <p:nvPr/>
        </p:nvSpPr>
        <p:spPr>
          <a:xfrm>
            <a:off x="533400" y="1885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Cách làm đơn giản</a:t>
            </a:r>
            <a:endParaRPr sz="180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2628900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5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Prompt → HTTP → in kết quả</a:t>
            </a:r>
            <a:endParaRPr sz="25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3638550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Khó mở rộng, khó kiểm thử, không đo được trajectory và không thể thay thế từng thành phần độc lập.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705600" y="1885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Mục tiêu đồ án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Oval 8"/>
          <p:cNvSpPr>
            <a:spLocks noGrp="1"/>
          </p:cNvSpPr>
          <p:nvPr/>
        </p:nvSpPr>
        <p:spPr>
          <a:xfrm>
            <a:off x="6705600" y="265747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6934200" y="25908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Phân lớp rõ ràng theo trách nhiệm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Oval 10"/>
          <p:cNvSpPr>
            <a:spLocks noGrp="1"/>
          </p:cNvSpPr>
          <p:nvPr/>
        </p:nvSpPr>
        <p:spPr>
          <a:xfrm>
            <a:off x="6705600" y="328612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6934200" y="32194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Thay thế được client, tool và evaluator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Oval 12"/>
          <p:cNvSpPr>
            <a:spLocks noGrp="1"/>
          </p:cNvSpPr>
          <p:nvPr/>
        </p:nvSpPr>
        <p:spPr>
          <a:xfrm>
            <a:off x="6705600" y="391477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6934200" y="38481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Ghi lại và đánh giá toàn bộ agent run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705600" y="4876800"/>
            <a:ext cx="4572000" cy="704850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Một hệ thống OOP hoàn chỉnh — không phải một API wrapper</a:t>
            </a:r>
            <a:endParaRPr sz="165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3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Năm tầng phối hợp, mỗi tầng có một trách nhiệm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226695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1" name="Straight Arrow Connector 30"/>
          <p:cNvCxnSpPr/>
          <p:nvPr/>
        </p:nvCxnSpPr>
        <p:spPr>
          <a:xfrm>
            <a:off x="453390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2" name="Straight Arrow Connector 31"/>
          <p:cNvCxnSpPr/>
          <p:nvPr/>
        </p:nvCxnSpPr>
        <p:spPr>
          <a:xfrm>
            <a:off x="680085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3" name="Straight Arrow Connector 32"/>
          <p:cNvCxnSpPr/>
          <p:nvPr/>
        </p:nvCxnSpPr>
        <p:spPr>
          <a:xfrm>
            <a:off x="906780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8" name="Rectangle 7"/>
          <p:cNvSpPr>
            <a:spLocks noGrp="1"/>
          </p:cNvSpPr>
          <p:nvPr/>
        </p:nvSpPr>
        <p:spPr>
          <a:xfrm>
            <a:off x="55245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Rectangle 8"/>
          <p:cNvSpPr>
            <a:spLocks noGrp="1"/>
          </p:cNvSpPr>
          <p:nvPr/>
        </p:nvSpPr>
        <p:spPr>
          <a:xfrm>
            <a:off x="7239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 CLIENT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239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HTTP + JSON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 /api/chat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281940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299085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TOOLS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299085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tên tool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+ policy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508635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Rectangle 14"/>
          <p:cNvSpPr>
            <a:spLocks noGrp="1"/>
          </p:cNvSpPr>
          <p:nvPr/>
        </p:nvSpPr>
        <p:spPr>
          <a:xfrm>
            <a:off x="52578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SKILLS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52578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Markdown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 + inject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735330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8" name="Rectangle 17"/>
          <p:cNvSpPr>
            <a:spLocks noGrp="1"/>
          </p:cNvSpPr>
          <p:nvPr/>
        </p:nvSpPr>
        <p:spPr>
          <a:xfrm>
            <a:off x="752475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LOOP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752475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ReAct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loop detection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9620250" y="2419350"/>
            <a:ext cx="1714500" cy="1543050"/>
          </a:xfrm>
          <a:prstGeom prst="rect">
            <a:avLst/>
          </a:prstGeom>
          <a:solidFill>
            <a:srgbClr val="D0EDFA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97917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97917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evaluators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533400" y="4762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4" name="Rectangle 23"/>
          <p:cNvSpPr>
            <a:spLocks noGrp="1"/>
          </p:cNvSpPr>
          <p:nvPr/>
        </p:nvSpPr>
        <p:spPr>
          <a:xfrm>
            <a:off x="533400" y="50482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Nguyên tắc phụ thuộc</a:t>
            </a:r>
            <a:endParaRPr sz="15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3048000" y="50482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Ứng dụng → Harness → Agent → {Client, Tools}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3048000" y="5524500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 không biết Harness tồn tại; Harness chỉ quan sát qua StepHook.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ectangle 18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4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LLMClient tách agent logic khỏi Ollama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9621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1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1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LLMClient</a:t>
            </a:r>
            <a:endParaRPr sz="31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571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interface trừu tượng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3905250" y="2952750"/>
            <a:ext cx="2095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7" name="Rectangle 6"/>
          <p:cNvSpPr>
            <a:spLocks noGrp="1"/>
          </p:cNvSpPr>
          <p:nvPr/>
        </p:nvSpPr>
        <p:spPr>
          <a:xfrm>
            <a:off x="6572250" y="1952625"/>
            <a:ext cx="4514850" cy="1543050"/>
          </a:xfrm>
          <a:prstGeom prst="rect">
            <a:avLst/>
          </a:prstGeom>
          <a:solidFill>
            <a:srgbClr val="EAF6FC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6896100" y="2209800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2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2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OllamaClient</a:t>
            </a:r>
            <a:endParaRPr sz="22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896100" y="2781300"/>
            <a:ext cx="3810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libcurl + nlohmann/json</a:t>
            </a:r>
            <a:endParaRPr sz="15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POST /api/chat</a:t>
            </a:r>
            <a:endParaRPr sz="15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533400" y="4095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Đa phương thức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143250" y="40957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Message có images base64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533400" y="453390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3" name="Rectangle 12"/>
          <p:cNvSpPr>
            <a:spLocks noGrp="1"/>
          </p:cNvSpPr>
          <p:nvPr/>
        </p:nvSpPr>
        <p:spPr>
          <a:xfrm>
            <a:off x="533400" y="47625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Cấu hình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143250" y="476250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model • temperature • max_tokens • timeout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533400" y="520065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54292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Lỗi có cấu trúc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143250" y="54292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timeout • connection • HTTP • malformed JSON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533400" y="586740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5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ToolRegistry quản lý </a:t>
            </a:r>
            <a:r>
              <a:rPr lang="en-US"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tool ở runtime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809750"/>
            <a:ext cx="2095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84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84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lang="en-US" sz="84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3124200"/>
            <a:ext cx="247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tên tool được đăng ký</a:t>
            </a:r>
            <a:endParaRPr sz="1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5433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lớp triển khai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4343400"/>
            <a:ext cx="2381250" cy="10668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/ Factory</a:t>
            </a:r>
            <a:endParaRPr sz="15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allow • deny • get • list</a:t>
            </a:r>
            <a:endParaRPr sz="15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373380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THAO TÁC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3733800" y="2343150"/>
            <a:ext cx="226695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0" name="Rectangle 9"/>
          <p:cNvSpPr>
            <a:spLocks noGrp="1"/>
          </p:cNvSpPr>
          <p:nvPr/>
        </p:nvSpPr>
        <p:spPr>
          <a:xfrm>
            <a:off x="373380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exec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read_file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write_file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current_time</a:t>
            </a:r>
            <a:endParaRPr lang="en-US"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73380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Shell và filesystem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41985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TRI THỨC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6419850" y="2343150"/>
            <a:ext cx="226695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4" name="Rectangle 13"/>
          <p:cNvSpPr>
            <a:spLocks noGrp="1"/>
          </p:cNvSpPr>
          <p:nvPr/>
        </p:nvSpPr>
        <p:spPr>
          <a:xfrm>
            <a:off x="641985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web_search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memory_save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memory_search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json_query</a:t>
            </a:r>
            <a:endParaRPr lang="en-US"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41985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Web và SQLite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910590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TÍNH TOÁN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105900" y="2343150"/>
            <a:ext cx="2266950" cy="953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</a:ln>
        </p:spPr>
      </p:cxnSp>
      <p:sp>
        <p:nvSpPr>
          <p:cNvPr id="18" name="Rectangle 17"/>
          <p:cNvSpPr>
            <a:spLocks noGrp="1"/>
          </p:cNvSpPr>
          <p:nvPr/>
        </p:nvSpPr>
        <p:spPr>
          <a:xfrm>
            <a:off x="910590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calculator</a:t>
            </a:r>
            <a:endParaRPr sz="2100" b="1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21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text_stats</a:t>
            </a:r>
            <a:endParaRPr lang="en-US" sz="2100" b="1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910590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Biểu thức số học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6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Skill được chọn theo nhiệm vụ rồi inject vào prompt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3429000" y="3048000"/>
            <a:ext cx="1333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2" name="Straight Arrow Connector 21"/>
          <p:cNvCxnSpPr/>
          <p:nvPr/>
        </p:nvCxnSpPr>
        <p:spPr>
          <a:xfrm>
            <a:off x="6762750" y="3048000"/>
            <a:ext cx="1333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66675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66675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LOAD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6675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Quét skills/*.md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bằng std::filesystem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400050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400050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400050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Keyword matching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chọn skill phù hợp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33425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33425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INJECT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733425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Ghép vào system prompt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trước mỗi agent run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533400" y="4762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50482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 skill hiện có</a:t>
            </a:r>
            <a:endParaRPr sz="15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143250" y="5029200"/>
            <a:ext cx="790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task_planner.md  •  error_recovery.md  •  web_research.md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7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 điều phối vòng lặp ReAct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26479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7" name="Straight Arrow Connector 26"/>
          <p:cNvCxnSpPr/>
          <p:nvPr/>
        </p:nvCxnSpPr>
        <p:spPr>
          <a:xfrm>
            <a:off x="54292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8" name="Straight Arrow Connector 27"/>
          <p:cNvCxnSpPr/>
          <p:nvPr/>
        </p:nvCxnSpPr>
        <p:spPr>
          <a:xfrm>
            <a:off x="82105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7" name="Rectangle 6"/>
          <p:cNvSpPr>
            <a:spLocks noGrp="1"/>
          </p:cNvSpPr>
          <p:nvPr/>
        </p:nvSpPr>
        <p:spPr>
          <a:xfrm>
            <a:off x="5524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7239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THINK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7239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 trả JSON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333750" y="2152650"/>
            <a:ext cx="2095500" cy="1162050"/>
          </a:xfrm>
          <a:prstGeom prst="rect">
            <a:avLst/>
          </a:prstGeom>
          <a:solidFill>
            <a:srgbClr val="D0EDFA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35052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PARSE</a:t>
            </a:r>
            <a:endParaRPr sz="15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5052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Action variant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61150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62865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2865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thực thi tool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88963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Rectangle 16"/>
          <p:cNvSpPr>
            <a:spLocks noGrp="1"/>
          </p:cNvSpPr>
          <p:nvPr/>
        </p:nvSpPr>
        <p:spPr>
          <a:xfrm>
            <a:off x="90678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90678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quả vào history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33400" y="39624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Giao thức tool call do chương trình tự parse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4438650"/>
            <a:ext cx="11125200" cy="9715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781050" y="4724400"/>
            <a:ext cx="1057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 "thought": "...",  "action": "calculator",  "action_input": "15*17" }</a:t>
            </a:r>
            <a:endParaRPr sz="1725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533400" y="57531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Dừng khi có FinalAnswer, lỗi nghiêm trọng hoặc đạt max_steps.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Rectangle 16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8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LoopDetector ngăn agent lặp vô hạn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3143250" y="2857500"/>
            <a:ext cx="2952750" cy="121920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cxnSp>
        <p:nvCxnSpPr>
          <p:cNvPr id="21" name="Straight Arrow Connector 20"/>
          <p:cNvCxnSpPr/>
          <p:nvPr/>
        </p:nvCxnSpPr>
        <p:spPr>
          <a:xfrm>
            <a:off x="6096000" y="2857500"/>
            <a:ext cx="2952750" cy="121920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4667250" y="2019300"/>
            <a:ext cx="2857500" cy="11239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Action signature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 | arguments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933450" y="3943350"/>
            <a:ext cx="4095750" cy="13716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1200150" y="42100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GENERIC REPEAT</a:t>
            </a:r>
            <a:endParaRPr sz="1650" b="1">
              <a:solidFill>
                <a:srgbClr val="B4231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1200150" y="4705350"/>
            <a:ext cx="3543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 → A → A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162800" y="3943350"/>
            <a:ext cx="4095750" cy="13716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7429500" y="42100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PING–PONG</a:t>
            </a:r>
            <a:endParaRPr sz="16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429500" y="4705350"/>
            <a:ext cx="3543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 → B → A → B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333750" y="581025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Warning</a:t>
            </a:r>
            <a:endParaRPr sz="13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4429125" y="5943600"/>
            <a:ext cx="1619250" cy="953"/>
          </a:xfrm>
          <a:prstGeom prst="straightConnector1">
            <a:avLst/>
          </a:prstGeom>
          <a:ln w="47625">
            <a:solidFill>
              <a:srgbClr val="B66A00"/>
            </a:solidFill>
            <a:prstDash val="solid"/>
          </a:ln>
        </p:spPr>
      </p:cxnSp>
      <p:cxnSp>
        <p:nvCxnSpPr>
          <p:cNvPr id="31" name="Straight Arrow Connector 30"/>
          <p:cNvCxnSpPr/>
          <p:nvPr/>
        </p:nvCxnSpPr>
        <p:spPr>
          <a:xfrm>
            <a:off x="6048375" y="5943600"/>
            <a:ext cx="1619250" cy="953"/>
          </a:xfrm>
          <a:prstGeom prst="straightConnector1">
            <a:avLst/>
          </a:prstGeom>
          <a:ln w="47625">
            <a:solidFill>
              <a:srgbClr val="B42318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7810500" y="58102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Critical → log và dừng</a:t>
            </a:r>
            <a:endParaRPr sz="1350" b="1">
              <a:solidFill>
                <a:srgbClr val="B4231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Rectangle 20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9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 ghi trajectory và đánh giá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2857500" y="2924175"/>
            <a:ext cx="6667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5" name="Straight Arrow Connector 24"/>
          <p:cNvCxnSpPr/>
          <p:nvPr/>
        </p:nvCxnSpPr>
        <p:spPr>
          <a:xfrm>
            <a:off x="5715000" y="2924175"/>
            <a:ext cx="6667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666750" y="2247900"/>
            <a:ext cx="2190750" cy="14097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Rectangle 6"/>
          <p:cNvSpPr>
            <a:spLocks noGrp="1"/>
          </p:cNvSpPr>
          <p:nvPr/>
        </p:nvSpPr>
        <p:spPr>
          <a:xfrm>
            <a:off x="8572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RUN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8572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HarnessRunner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từng Task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3524250" y="2247900"/>
            <a:ext cx="2190750" cy="1409700"/>
          </a:xfrm>
          <a:prstGeom prst="rect">
            <a:avLst/>
          </a:prstGeom>
          <a:solidFill>
            <a:srgbClr val="EAF6FC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37147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RECORD</a:t>
            </a:r>
            <a:endParaRPr sz="142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7147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StepHook ghi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 JSON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381750" y="2247900"/>
            <a:ext cx="2190750" cy="14097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65722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65722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Keyword hoặc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Functional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9620250" y="2095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OUTPUT</a:t>
            </a:r>
            <a:endParaRPr sz="120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9620250" y="2571750"/>
            <a:ext cx="200025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trajectory_*.json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summary.json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rate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533400" y="447675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8" name="Rectangle 17"/>
          <p:cNvSpPr>
            <a:spLocks noGrp="1"/>
          </p:cNvSpPr>
          <p:nvPr/>
        </p:nvSpPr>
        <p:spPr>
          <a:xfrm>
            <a:off x="533400" y="4819650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 chỉ nhìn Task + Trajectory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429250" y="4876800"/>
            <a:ext cx="561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Không phụ thuộc AgentLoop đã chạy bằng cách nào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5524500"/>
            <a:ext cx="571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NativeEnvironment ↔ SandboxEnvironment</a:t>
            </a:r>
            <a:endParaRPr sz="15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0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Bốn design pattern cho bốn điểm biến thiên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6096000" y="18859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cxnSp>
        <p:nvCxnSpPr>
          <p:cNvPr id="22" name="Straight Arrow Connector 21"/>
          <p:cNvCxnSpPr/>
          <p:nvPr/>
        </p:nvCxnSpPr>
        <p:spPr>
          <a:xfrm>
            <a:off x="533400" y="4000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533400" y="186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/ FACTORY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23050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ToolRegistry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533400" y="28384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Thêm tool runtime và tạo instance theo tên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515100" y="186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TEMPLATE METHOD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6515100" y="23050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AgentLoop::run()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6515100" y="28384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Giữ skeleton, cho phép override think / act / observe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533400" y="4267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STRATEGY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533400" y="47053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533400" y="52387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Đổi Keyword ↔ Functional mà không đổi Harness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515100" y="4267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OBSERVER / HOOK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515100" y="47053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StepHook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515100" y="52387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 ghi Step mà AgentLoop không biết Harness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Rectangle 23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1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 C++17–26 xuất hiện trong code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C++17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unique_ptr + RAII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variant / visit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filesystem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structured bindings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30861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Rectangle 8"/>
          <p:cNvSpPr>
            <a:spLocks noGrp="1"/>
          </p:cNvSpPr>
          <p:nvPr/>
        </p:nvSpPr>
        <p:spPr>
          <a:xfrm>
            <a:off x="33147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C++20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3147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3147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3147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designated init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contains()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ranges / views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58674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4" name="Rectangle 13"/>
          <p:cNvSpPr>
            <a:spLocks noGrp="1"/>
          </p:cNvSpPr>
          <p:nvPr/>
        </p:nvSpPr>
        <p:spPr>
          <a:xfrm>
            <a:off x="60960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C++23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0960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0960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0960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std::expected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std::print / println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86487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Rectangle 18"/>
          <p:cNvSpPr>
            <a:spLocks noGrp="1"/>
          </p:cNvSpPr>
          <p:nvPr/>
        </p:nvSpPr>
        <p:spPr>
          <a:xfrm>
            <a:off x="88773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C++26</a:t>
            </a:r>
            <a:endParaRPr sz="172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88773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88773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88773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= delete("reason")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copy safety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533400" y="5829300"/>
            <a:ext cx="11125200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 management: không raw new/delete • lỗi dự kiến được biểu diễn bằng std::expected</a:t>
            </a:r>
            <a:endParaRPr sz="135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2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Benchmark mẫu ghi nhận 10/10 task thành công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762000" y="569595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Bước trung bình tăng theo độ khó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7467600" y="1981200"/>
            <a:ext cx="3619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9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9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10/10</a:t>
            </a:r>
            <a:endParaRPr sz="49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7467600" y="28575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rate = 100%</a:t>
            </a:r>
            <a:endParaRPr sz="1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467600" y="3467100"/>
            <a:ext cx="3619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Rectangle 8"/>
          <p:cNvSpPr>
            <a:spLocks noGrp="1"/>
          </p:cNvSpPr>
          <p:nvPr/>
        </p:nvSpPr>
        <p:spPr>
          <a:xfrm>
            <a:off x="7467600" y="377190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lang="en-US"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lang="en-US" sz="30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467600" y="4305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tổng số bước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9448800" y="37719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32,394</a:t>
            </a:r>
            <a:endParaRPr lang="en-US" sz="30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9448800" y="43053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tokens xấp xỉ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467600" y="5010150"/>
            <a:ext cx="3810000" cy="8763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7696200" y="518160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Lưu ý</a:t>
            </a:r>
            <a:endParaRPr sz="13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8458200" y="516255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quả của một lần chạy, temperature 0.1; LLM có tính không tất định.</a:t>
            </a:r>
            <a:endParaRPr sz="12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aphicFrame>
        <p:nvGraphicFramePr>
          <p:cNvPr id="17" name="Chart 16"/>
          <p:cNvGraphicFramePr/>
          <p:nvPr/>
        </p:nvGraphicFramePr>
        <p:xfrm>
          <a:off x="335280" y="1537335"/>
          <a:ext cx="6839585" cy="39598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ectangle 2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3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Bốn lỗi định hình kiến trúc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047750" y="3257550"/>
            <a:ext cx="990600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5" name="Oval 4"/>
          <p:cNvSpPr>
            <a:spLocks noGrp="1"/>
          </p:cNvSpPr>
          <p:nvPr/>
        </p:nvSpPr>
        <p:spPr>
          <a:xfrm>
            <a:off x="6477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6" name="Rectangle 5"/>
          <p:cNvSpPr>
            <a:spLocks noGrp="1"/>
          </p:cNvSpPr>
          <p:nvPr/>
        </p:nvSpPr>
        <p:spPr>
          <a:xfrm>
            <a:off x="6477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6477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std::println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477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Link thiếu stdc++exp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477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Bổ sung thư viện trong CMake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Oval 9"/>
          <p:cNvSpPr>
            <a:spLocks noGrp="1"/>
          </p:cNvSpPr>
          <p:nvPr/>
        </p:nvSpPr>
        <p:spPr>
          <a:xfrm>
            <a:off x="35052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35052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5052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SSL / CA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5052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Bundle rỗng trên MSYS2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5052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Dò và kiểm tra CA hợp lệ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Oval 14"/>
          <p:cNvSpPr>
            <a:spLocks noGrp="1"/>
          </p:cNvSpPr>
          <p:nvPr/>
        </p:nvSpPr>
        <p:spPr>
          <a:xfrm>
            <a:off x="63627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63627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3627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Windows shell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63627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cmd /c làm hỏng quoting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63627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Chuẩn hóa đường dẫn + quote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Oval 19"/>
          <p:cNvSpPr>
            <a:spLocks noGrp="1"/>
          </p:cNvSpPr>
          <p:nvPr/>
        </p:nvSpPr>
        <p:spPr>
          <a:xfrm>
            <a:off x="9220200" y="3162300"/>
            <a:ext cx="190500" cy="19050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92202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92202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Default arg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92202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Nested aggregate lỗi compile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" name="Rectangle 23"/>
          <p:cNvSpPr>
            <a:spLocks noGrp="1"/>
          </p:cNvSpPr>
          <p:nvPr/>
        </p:nvSpPr>
        <p:spPr>
          <a:xfrm>
            <a:off x="92202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Tách constructor mặc định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533400" y="5810250"/>
            <a:ext cx="11125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7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Mỗi lỗi đều để lại một quyết định kiến trúc hoặc build có thể giải thích trong code.</a:t>
            </a:r>
            <a:endParaRPr sz="157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4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Demo: chạy, mở rộng và đo lường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8097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1200150" y="1809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agent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3790950" y="18288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Một task hoàn chỉnh từ command line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200150" y="23431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8" name="Rectangle 7"/>
          <p:cNvSpPr>
            <a:spLocks noGrp="1"/>
          </p:cNvSpPr>
          <p:nvPr/>
        </p:nvSpPr>
        <p:spPr>
          <a:xfrm>
            <a:off x="533400" y="26860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1200150" y="26860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Thêm tool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790950" y="27051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Tạo subclass, đăng ký runtime, rebuild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1200150" y="32194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Rectangle 11"/>
          <p:cNvSpPr>
            <a:spLocks noGrp="1"/>
          </p:cNvSpPr>
          <p:nvPr/>
        </p:nvSpPr>
        <p:spPr>
          <a:xfrm>
            <a:off x="533400" y="35623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1200150" y="35623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benchmark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790950" y="35814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Mở summary.json và một trajectory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200150" y="40957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44386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1200150" y="44386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Giải thích pattern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3790950" y="44577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Chỉ đúng class và quan hệ trong code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1200150" y="49720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0" name="Rectangle 19"/>
          <p:cNvSpPr>
            <a:spLocks noGrp="1"/>
          </p:cNvSpPr>
          <p:nvPr/>
        </p:nvSpPr>
        <p:spPr>
          <a:xfrm>
            <a:off x="533400" y="5581650"/>
            <a:ext cx="11125200" cy="8001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781050" y="57721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D0EDF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D0EDF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luận</a:t>
            </a:r>
            <a:endParaRPr sz="1500" b="1">
              <a:solidFill>
                <a:srgbClr val="D0EDF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2247900" y="573405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giúp agent phức tạp vẫn có thể thay thế, kiểm thử và đánh giá từng tầng.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4222</Words>
  <Application>WPS Presentation</Application>
  <PresentationFormat>Converted Presentation</PresentationFormat>
  <Paragraphs>425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SimSun</vt:lpstr>
      <vt:lpstr>Wingdings</vt:lpstr>
      <vt:lpstr>Arial</vt:lpstr>
      <vt:lpstr>Microsoft YaHei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nhật tânđào</cp:lastModifiedBy>
  <cp:revision>5</cp:revision>
  <dcterms:created xsi:type="dcterms:W3CDTF">2026-08-28T12:40:00Z</dcterms:created>
  <dcterms:modified xsi:type="dcterms:W3CDTF">2026-08-30T05:29:13Z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A2410C971B2D41469C678A4A80030A73_12</vt:lpwstr>
  </property>
  <property fmtid="{D5CDD505-2E9C-101B-9397-08002B2CF9AE}" pid="3" name="KSOProductBuildVer">
    <vt:lpwstr>1033-12.1.0.28032</vt:lpwstr>
  </property>
</Properties>
</file>